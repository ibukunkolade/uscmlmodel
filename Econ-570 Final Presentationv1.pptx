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D8A5EF0-F0EF-4A25-B9BD-B20571C9AC95}">
  <a:tblStyle styleId="{6D8A5EF0-F0EF-4A25-B9BD-B20571C9AC9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24" Type="http://schemas.openxmlformats.org/officeDocument/2006/relationships/slide" Target="slides/slide18.xml"/><Relationship Id="rId12" Type="http://schemas.openxmlformats.org/officeDocument/2006/relationships/slide" Target="slides/slide6.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1691f09da8_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1691f09da8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1691f09da8_3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1691f09da8_3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1691f09da8_3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1691f09da8_3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1691f09da8_3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1691f09da8_3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180a6d1ca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180a6d1ca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Mention that you will be vague here as the data will be discussed more in depth in the next section of the </a:t>
            </a:r>
            <a:r>
              <a:rPr lang="en"/>
              <a:t>presentation</a:t>
            </a:r>
            <a:r>
              <a:rPr lang="en"/>
              <a:t> </a:t>
            </a:r>
            <a:endParaRPr/>
          </a:p>
          <a:p>
            <a:pPr indent="-298450" lvl="0" marL="457200" rtl="0" algn="l">
              <a:spcBef>
                <a:spcPts val="0"/>
              </a:spcBef>
              <a:spcAft>
                <a:spcPts val="0"/>
              </a:spcAft>
              <a:buSzPts val="1100"/>
              <a:buChar char="-"/>
            </a:pPr>
            <a:r>
              <a:rPr lang="en"/>
              <a:t>Interested in CO, NOx, and O3</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18c4929010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18c4929010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Key assumption: the only reason for air pollution to </a:t>
            </a:r>
            <a:r>
              <a:rPr lang="en"/>
              <a:t>discontinuously</a:t>
            </a:r>
            <a:r>
              <a:rPr lang="en"/>
              <a:t> change on Taipei Metro’s opening day is because of the opening of the Taipei Metro itself </a:t>
            </a:r>
            <a:endParaRPr/>
          </a:p>
          <a:p>
            <a:pPr indent="-298450" lvl="0" marL="457200" rtl="0" algn="l">
              <a:spcBef>
                <a:spcPts val="0"/>
              </a:spcBef>
              <a:spcAft>
                <a:spcPts val="0"/>
              </a:spcAft>
              <a:buSzPts val="1100"/>
              <a:buChar char="-"/>
            </a:pPr>
            <a:r>
              <a:rPr lang="en"/>
              <a:t>Heterogeneous effects regression is what we’re the most concerned with (EJ effects, examines poverty </a:t>
            </a:r>
            <a:r>
              <a:rPr lang="en"/>
              <a:t>characteristics)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18c4929010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18c4929010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172584c52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172584c52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172584c525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172584c525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180a6d1ca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180a6d1ca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900">
                <a:solidFill>
                  <a:srgbClr val="595959"/>
                </a:solidFill>
              </a:rPr>
              <a:t>Parameter of interest is </a:t>
            </a:r>
            <a:r>
              <a:rPr b="1" lang="en" sz="700">
                <a:solidFill>
                  <a:srgbClr val="202122"/>
                </a:solidFill>
                <a:highlight>
                  <a:srgbClr val="FFFFFF"/>
                </a:highlight>
              </a:rPr>
              <a:t>𝛿</a:t>
            </a:r>
            <a:r>
              <a:rPr b="1" baseline="-25000" lang="en" sz="700">
                <a:solidFill>
                  <a:srgbClr val="202122"/>
                </a:solidFill>
                <a:highlight>
                  <a:srgbClr val="FFFFFF"/>
                </a:highlight>
              </a:rPr>
              <a:t>3</a:t>
            </a:r>
            <a:endParaRPr sz="900">
              <a:solidFill>
                <a:srgbClr val="595959"/>
              </a:solidFill>
            </a:endParaRPr>
          </a:p>
          <a:p>
            <a:pPr indent="0" lvl="0" marL="0" rtl="0" algn="l">
              <a:lnSpc>
                <a:spcPct val="115000"/>
              </a:lnSpc>
              <a:spcBef>
                <a:spcPts val="1200"/>
              </a:spcBef>
              <a:spcAft>
                <a:spcPts val="0"/>
              </a:spcAft>
              <a:buNone/>
            </a:pPr>
            <a:r>
              <a:rPr lang="en" sz="900">
                <a:solidFill>
                  <a:srgbClr val="595959"/>
                </a:solidFill>
              </a:rPr>
              <a:t>So whether the effects were different between low and high income areas. This was estimated to be zero by the researchers implying no heterogeneity</a:t>
            </a:r>
            <a:endParaRPr sz="900">
              <a:solidFill>
                <a:srgbClr val="595959"/>
              </a:solidFill>
            </a:endParaRPr>
          </a:p>
          <a:p>
            <a:pPr indent="0" lvl="0" marL="0" rtl="0" algn="l">
              <a:lnSpc>
                <a:spcPct val="115000"/>
              </a:lnSpc>
              <a:spcBef>
                <a:spcPts val="1200"/>
              </a:spcBef>
              <a:spcAft>
                <a:spcPts val="0"/>
              </a:spcAft>
              <a:buNone/>
            </a:pPr>
            <a:r>
              <a:rPr lang="en" sz="900">
                <a:solidFill>
                  <a:srgbClr val="595959"/>
                </a:solidFill>
              </a:rPr>
              <a:t>Algorithm based off of Causality II lecture</a:t>
            </a:r>
            <a:endParaRPr sz="900">
              <a:solidFill>
                <a:srgbClr val="595959"/>
              </a:solidFill>
            </a:endParaRPr>
          </a:p>
          <a:p>
            <a:pPr indent="0" lvl="0" marL="0" rtl="0" algn="l">
              <a:lnSpc>
                <a:spcPct val="115000"/>
              </a:lnSpc>
              <a:spcBef>
                <a:spcPts val="1200"/>
              </a:spcBef>
              <a:spcAft>
                <a:spcPts val="0"/>
              </a:spcAft>
              <a:buNone/>
            </a:pPr>
            <a:r>
              <a:rPr lang="en" sz="900">
                <a:solidFill>
                  <a:srgbClr val="595959"/>
                </a:solidFill>
              </a:rPr>
              <a:t>Estimate original Beta, estimate betas at different cutoffs, check if beta is statistically significant</a:t>
            </a:r>
            <a:endParaRPr sz="900">
              <a:solidFill>
                <a:srgbClr val="595959"/>
              </a:solidFill>
            </a:endParaRPr>
          </a:p>
          <a:p>
            <a:pPr indent="-285750" lvl="1" marL="914400" rtl="0" algn="l">
              <a:lnSpc>
                <a:spcPct val="115000"/>
              </a:lnSpc>
              <a:spcBef>
                <a:spcPts val="1200"/>
              </a:spcBef>
              <a:spcAft>
                <a:spcPts val="0"/>
              </a:spcAft>
              <a:buClr>
                <a:srgbClr val="595959"/>
              </a:buClr>
              <a:buSzPts val="900"/>
              <a:buChar char="○"/>
            </a:pPr>
            <a:r>
              <a:rPr lang="en" sz="900">
                <a:solidFill>
                  <a:srgbClr val="595959"/>
                </a:solidFill>
              </a:rPr>
              <a:t>Cutoff is randomized </a:t>
            </a:r>
            <a:endParaRPr sz="900">
              <a:solidFill>
                <a:srgbClr val="595959"/>
              </a:solidFill>
            </a:endParaRPr>
          </a:p>
          <a:p>
            <a:pPr indent="0" lvl="0" marL="0" rtl="0" algn="l">
              <a:lnSpc>
                <a:spcPct val="115000"/>
              </a:lnSpc>
              <a:spcBef>
                <a:spcPts val="1200"/>
              </a:spcBef>
              <a:spcAft>
                <a:spcPts val="0"/>
              </a:spcAft>
              <a:buNone/>
            </a:pPr>
            <a:r>
              <a:rPr lang="en" sz="900">
                <a:solidFill>
                  <a:srgbClr val="595959"/>
                </a:solidFill>
              </a:rPr>
              <a:t>This helps us assess the variance of our estimate and perform inference, while checking the continuity of our pollutants over time</a:t>
            </a:r>
            <a:endParaRPr sz="900">
              <a:solidFill>
                <a:srgbClr val="595959"/>
              </a:solidFill>
            </a:endParaRPr>
          </a:p>
          <a:p>
            <a:pPr indent="0" lvl="0" marL="0" rtl="0" algn="l">
              <a:lnSpc>
                <a:spcPct val="115000"/>
              </a:lnSpc>
              <a:spcBef>
                <a:spcPts val="1200"/>
              </a:spcBef>
              <a:spcAft>
                <a:spcPts val="0"/>
              </a:spcAft>
              <a:buNone/>
            </a:pPr>
            <a:r>
              <a:t/>
            </a:r>
            <a:endParaRPr sz="900">
              <a:solidFill>
                <a:srgbClr val="595959"/>
              </a:solidFill>
            </a:endParaRPr>
          </a:p>
          <a:p>
            <a:pPr indent="0" lvl="0" marL="0" rtl="0" algn="l">
              <a:lnSpc>
                <a:spcPct val="115000"/>
              </a:lnSpc>
              <a:spcBef>
                <a:spcPts val="1200"/>
              </a:spcBef>
              <a:spcAft>
                <a:spcPts val="0"/>
              </a:spcAft>
              <a:buNone/>
            </a:pPr>
            <a:r>
              <a:rPr lang="en" sz="900">
                <a:solidFill>
                  <a:srgbClr val="595959"/>
                </a:solidFill>
              </a:rPr>
              <a:t>In this project, we are validating the results of the original study through two key approaches—Placebo Tests and Lasso Regression—each serving a distinct purpose in ensuring the robustness and accuracy of the findings. Here's a detailed explanation of why both avenues are necessary and effective:</a:t>
            </a:r>
            <a:endParaRPr sz="900">
              <a:solidFill>
                <a:srgbClr val="595959"/>
              </a:solidFill>
            </a:endParaRPr>
          </a:p>
          <a:p>
            <a:pPr indent="0" lvl="0" marL="0" rtl="0" algn="l">
              <a:lnSpc>
                <a:spcPct val="115000"/>
              </a:lnSpc>
              <a:spcBef>
                <a:spcPts val="0"/>
              </a:spcBef>
              <a:spcAft>
                <a:spcPts val="0"/>
              </a:spcAft>
              <a:buNone/>
            </a:pPr>
            <a:r>
              <a:t/>
            </a:r>
            <a:endParaRPr sz="900">
              <a:solidFill>
                <a:srgbClr val="595959"/>
              </a:solidFill>
            </a:endParaRPr>
          </a:p>
          <a:p>
            <a:pPr indent="-285750" lvl="0" marL="457200" rtl="0" algn="l">
              <a:lnSpc>
                <a:spcPct val="115000"/>
              </a:lnSpc>
              <a:spcBef>
                <a:spcPts val="0"/>
              </a:spcBef>
              <a:spcAft>
                <a:spcPts val="0"/>
              </a:spcAft>
              <a:buClr>
                <a:srgbClr val="595959"/>
              </a:buClr>
              <a:buSzPts val="900"/>
              <a:buAutoNum type="arabicPeriod"/>
            </a:pPr>
            <a:r>
              <a:rPr lang="en" sz="900">
                <a:solidFill>
                  <a:srgbClr val="595959"/>
                </a:solidFill>
              </a:rPr>
              <a:t>Placebo Tests:</a:t>
            </a:r>
            <a:endParaRPr sz="900">
              <a:solidFill>
                <a:srgbClr val="595959"/>
              </a:solidFill>
            </a:endParaRPr>
          </a:p>
          <a:p>
            <a:pPr indent="-285750" lvl="0" marL="457200" rtl="0" algn="l">
              <a:lnSpc>
                <a:spcPct val="115000"/>
              </a:lnSpc>
              <a:spcBef>
                <a:spcPts val="0"/>
              </a:spcBef>
              <a:spcAft>
                <a:spcPts val="0"/>
              </a:spcAft>
              <a:buClr>
                <a:srgbClr val="595959"/>
              </a:buClr>
              <a:buSzPts val="900"/>
              <a:buChar char="-"/>
            </a:pPr>
            <a:r>
              <a:rPr lang="en" sz="900">
                <a:solidFill>
                  <a:srgbClr val="595959"/>
                </a:solidFill>
              </a:rPr>
              <a:t>Purpose: The goal of the placebo tests is to ensure that the observed effect of the urban rail transit system on air quality is genuine and not due to random variation or unobserved factors. By randomly shifting the timing or location of the intervention (the Metro opening), we can test whether similar pollution changes occur even when the treatment should not have had any impact.</a:t>
            </a:r>
            <a:endParaRPr sz="900">
              <a:solidFill>
                <a:srgbClr val="595959"/>
              </a:solidFill>
            </a:endParaRPr>
          </a:p>
          <a:p>
            <a:pPr indent="0" lvl="0" marL="0" rtl="0" algn="l">
              <a:lnSpc>
                <a:spcPct val="115000"/>
              </a:lnSpc>
              <a:spcBef>
                <a:spcPts val="0"/>
              </a:spcBef>
              <a:spcAft>
                <a:spcPts val="0"/>
              </a:spcAft>
              <a:buClr>
                <a:schemeClr val="dk1"/>
              </a:buClr>
              <a:buSzPts val="1100"/>
              <a:buFont typeface="Arial"/>
              <a:buNone/>
            </a:pPr>
            <a:r>
              <a:rPr lang="en" sz="900">
                <a:solidFill>
                  <a:srgbClr val="595959"/>
                </a:solidFill>
              </a:rPr>
              <a:t>Mechanism:</a:t>
            </a:r>
            <a:endParaRPr sz="900">
              <a:solidFill>
                <a:srgbClr val="595959"/>
              </a:solidFill>
            </a:endParaRPr>
          </a:p>
          <a:p>
            <a:pPr indent="-285750" lvl="0" marL="457200" rtl="0" algn="l">
              <a:lnSpc>
                <a:spcPct val="115000"/>
              </a:lnSpc>
              <a:spcBef>
                <a:spcPts val="0"/>
              </a:spcBef>
              <a:spcAft>
                <a:spcPts val="0"/>
              </a:spcAft>
              <a:buClr>
                <a:srgbClr val="595959"/>
              </a:buClr>
              <a:buSzPts val="900"/>
              <a:buChar char="-"/>
            </a:pPr>
            <a:r>
              <a:rPr lang="en" sz="900">
                <a:solidFill>
                  <a:srgbClr val="595959"/>
                </a:solidFill>
              </a:rPr>
              <a:t>The parameter of interest in this case is 𝛿3, which captures the causal effect of the intervention (e.g., the opening of the Metro) on pollution levels. In the original study, this parameter is expected to show a significant change in pollution after the Metro opened.</a:t>
            </a:r>
            <a:endParaRPr sz="900">
              <a:solidFill>
                <a:srgbClr val="595959"/>
              </a:solidFill>
            </a:endParaRPr>
          </a:p>
          <a:p>
            <a:pPr indent="-285750" lvl="0" marL="457200" rtl="0" algn="l">
              <a:lnSpc>
                <a:spcPct val="115000"/>
              </a:lnSpc>
              <a:spcBef>
                <a:spcPts val="0"/>
              </a:spcBef>
              <a:spcAft>
                <a:spcPts val="0"/>
              </a:spcAft>
              <a:buClr>
                <a:srgbClr val="595959"/>
              </a:buClr>
              <a:buSzPts val="900"/>
              <a:buChar char="-"/>
            </a:pPr>
            <a:r>
              <a:rPr lang="en" sz="900">
                <a:solidFill>
                  <a:srgbClr val="595959"/>
                </a:solidFill>
              </a:rPr>
              <a:t>The algorithm, based on the Causality II lecture, works by randomizing the cutoffs or treatment timing and applying the same regression discontinuity design (RDD). If the effect (𝛿3) is significant only when the correct treatment timing is used, it indicates that the Metro opening caused the pollution changes. If significant effects are also found at random cutoffs, it would raise concerns about the validity of the original finding.</a:t>
            </a:r>
            <a:endParaRPr sz="900">
              <a:solidFill>
                <a:srgbClr val="595959"/>
              </a:solidFill>
            </a:endParaRPr>
          </a:p>
          <a:p>
            <a:pPr indent="0" lvl="0" marL="0" rtl="0" algn="l">
              <a:lnSpc>
                <a:spcPct val="115000"/>
              </a:lnSpc>
              <a:spcBef>
                <a:spcPts val="0"/>
              </a:spcBef>
              <a:spcAft>
                <a:spcPts val="0"/>
              </a:spcAft>
              <a:buNone/>
            </a:pPr>
            <a:r>
              <a:t/>
            </a:r>
            <a:endParaRPr sz="900">
              <a:solidFill>
                <a:srgbClr val="595959"/>
              </a:solidFill>
            </a:endParaRPr>
          </a:p>
          <a:p>
            <a:pPr indent="-285750" lvl="0" marL="457200" rtl="0" algn="l">
              <a:lnSpc>
                <a:spcPct val="115000"/>
              </a:lnSpc>
              <a:spcBef>
                <a:spcPts val="0"/>
              </a:spcBef>
              <a:spcAft>
                <a:spcPts val="0"/>
              </a:spcAft>
              <a:buClr>
                <a:srgbClr val="595959"/>
              </a:buClr>
              <a:buSzPts val="900"/>
              <a:buChar char="-"/>
            </a:pPr>
            <a:r>
              <a:rPr lang="en" sz="900">
                <a:solidFill>
                  <a:srgbClr val="595959"/>
                </a:solidFill>
              </a:rPr>
              <a:t>Rationale: Placebo tests serve as a falsification check. If we find significant results when we randomize the timing of the intervention, it suggests that the original result might not be reliable. Conversely, if the randomized cutoffs show no significant effect while the true cutoff does, it strengthens the validity of the causal relationship between the Metro opening and air quality improvement.</a:t>
            </a:r>
            <a:endParaRPr sz="900">
              <a:solidFill>
                <a:srgbClr val="595959"/>
              </a:solidFill>
            </a:endParaRPr>
          </a:p>
          <a:p>
            <a:pPr indent="0" lvl="0" marL="0" rtl="0" algn="l">
              <a:lnSpc>
                <a:spcPct val="115000"/>
              </a:lnSpc>
              <a:spcBef>
                <a:spcPts val="0"/>
              </a:spcBef>
              <a:spcAft>
                <a:spcPts val="0"/>
              </a:spcAft>
              <a:buClr>
                <a:schemeClr val="dk1"/>
              </a:buClr>
              <a:buSzPts val="1100"/>
              <a:buFont typeface="Arial"/>
              <a:buNone/>
            </a:pPr>
            <a:r>
              <a:t/>
            </a:r>
            <a:endParaRPr sz="900">
              <a:solidFill>
                <a:srgbClr val="595959"/>
              </a:solidFill>
            </a:endParaRPr>
          </a:p>
          <a:p>
            <a:pPr indent="-285750" lvl="0" marL="457200" rtl="0" algn="l">
              <a:lnSpc>
                <a:spcPct val="115000"/>
              </a:lnSpc>
              <a:spcBef>
                <a:spcPts val="0"/>
              </a:spcBef>
              <a:spcAft>
                <a:spcPts val="0"/>
              </a:spcAft>
              <a:buClr>
                <a:srgbClr val="595959"/>
              </a:buClr>
              <a:buSzPts val="900"/>
              <a:buAutoNum type="arabicPeriod"/>
            </a:pPr>
            <a:r>
              <a:rPr lang="en" sz="900">
                <a:solidFill>
                  <a:srgbClr val="595959"/>
                </a:solidFill>
              </a:rPr>
              <a:t>Lasso Regression:</a:t>
            </a:r>
            <a:endParaRPr sz="900">
              <a:solidFill>
                <a:srgbClr val="595959"/>
              </a:solidFill>
            </a:endParaRPr>
          </a:p>
          <a:p>
            <a:pPr indent="-285750" lvl="0" marL="457200" rtl="0" algn="l">
              <a:lnSpc>
                <a:spcPct val="115000"/>
              </a:lnSpc>
              <a:spcBef>
                <a:spcPts val="0"/>
              </a:spcBef>
              <a:spcAft>
                <a:spcPts val="0"/>
              </a:spcAft>
              <a:buClr>
                <a:srgbClr val="595959"/>
              </a:buClr>
              <a:buSzPts val="900"/>
              <a:buChar char="-"/>
            </a:pPr>
            <a:r>
              <a:rPr lang="en" sz="900">
                <a:solidFill>
                  <a:srgbClr val="595959"/>
                </a:solidFill>
              </a:rPr>
              <a:t>Purpose: The Lasso regression is used because the model in this study is high-dimensional—there are over 200 parameters being analyzed, including multiple pollutants, weather controls, and other regulatory factors. Lasso is an efficient tool for variable selection in such cases, helping to identify which factors are the most relevant predictors of pollution changes.</a:t>
            </a:r>
            <a:endParaRPr sz="900">
              <a:solidFill>
                <a:srgbClr val="595959"/>
              </a:solidFill>
            </a:endParaRPr>
          </a:p>
          <a:p>
            <a:pPr indent="0" lvl="0" marL="0" rtl="0" algn="l">
              <a:lnSpc>
                <a:spcPct val="115000"/>
              </a:lnSpc>
              <a:spcBef>
                <a:spcPts val="0"/>
              </a:spcBef>
              <a:spcAft>
                <a:spcPts val="0"/>
              </a:spcAft>
              <a:buClr>
                <a:schemeClr val="dk1"/>
              </a:buClr>
              <a:buSzPts val="1100"/>
              <a:buFont typeface="Arial"/>
              <a:buNone/>
            </a:pPr>
            <a:r>
              <a:rPr lang="en" sz="900">
                <a:solidFill>
                  <a:srgbClr val="595959"/>
                </a:solidFill>
              </a:rPr>
              <a:t>Mechanism:</a:t>
            </a:r>
            <a:endParaRPr sz="900">
              <a:solidFill>
                <a:srgbClr val="595959"/>
              </a:solidFill>
            </a:endParaRPr>
          </a:p>
          <a:p>
            <a:pPr indent="-285750" lvl="0" marL="457200" rtl="0" algn="l">
              <a:lnSpc>
                <a:spcPct val="115000"/>
              </a:lnSpc>
              <a:spcBef>
                <a:spcPts val="0"/>
              </a:spcBef>
              <a:spcAft>
                <a:spcPts val="0"/>
              </a:spcAft>
              <a:buClr>
                <a:srgbClr val="595959"/>
              </a:buClr>
              <a:buSzPts val="900"/>
              <a:buChar char="-"/>
            </a:pPr>
            <a:r>
              <a:rPr lang="en" sz="900">
                <a:solidFill>
                  <a:srgbClr val="595959"/>
                </a:solidFill>
              </a:rPr>
              <a:t>Lasso regression works by applying a penalty to the size of the regression coefficients, shrinking less important variables' coefficients toward zero, and effectively selecting the most important predictors. In this context, Lasso allows us to test which factors—from the many parameters included—are truly significant in explaining changes in air quality.</a:t>
            </a:r>
            <a:endParaRPr sz="900">
              <a:solidFill>
                <a:srgbClr val="595959"/>
              </a:solidFill>
            </a:endParaRPr>
          </a:p>
          <a:p>
            <a:pPr indent="-285750" lvl="0" marL="457200" rtl="0" algn="l">
              <a:lnSpc>
                <a:spcPct val="115000"/>
              </a:lnSpc>
              <a:spcBef>
                <a:spcPts val="0"/>
              </a:spcBef>
              <a:spcAft>
                <a:spcPts val="0"/>
              </a:spcAft>
              <a:buClr>
                <a:srgbClr val="595959"/>
              </a:buClr>
              <a:buSzPts val="900"/>
              <a:buChar char="-"/>
            </a:pPr>
            <a:r>
              <a:rPr lang="en" sz="900">
                <a:solidFill>
                  <a:srgbClr val="595959"/>
                </a:solidFill>
              </a:rPr>
              <a:t>This approach is critical when handling high-dimensional data because it simplifies the model, making it more interpretable while avoiding overfitting (where the model becomes overly complex and fits noise rather than the true signal).</a:t>
            </a:r>
            <a:endParaRPr sz="900">
              <a:solidFill>
                <a:srgbClr val="595959"/>
              </a:solidFill>
            </a:endParaRPr>
          </a:p>
          <a:p>
            <a:pPr indent="0" lvl="0" marL="0" rtl="0" algn="l">
              <a:lnSpc>
                <a:spcPct val="115000"/>
              </a:lnSpc>
              <a:spcBef>
                <a:spcPts val="0"/>
              </a:spcBef>
              <a:spcAft>
                <a:spcPts val="0"/>
              </a:spcAft>
              <a:buClr>
                <a:schemeClr val="dk1"/>
              </a:buClr>
              <a:buSzPts val="1100"/>
              <a:buFont typeface="Arial"/>
              <a:buNone/>
            </a:pPr>
            <a:r>
              <a:rPr lang="en" sz="900">
                <a:solidFill>
                  <a:srgbClr val="595959"/>
                </a:solidFill>
              </a:rPr>
              <a:t>Rationale:</a:t>
            </a:r>
            <a:endParaRPr sz="900">
              <a:solidFill>
                <a:srgbClr val="595959"/>
              </a:solidFill>
            </a:endParaRPr>
          </a:p>
          <a:p>
            <a:pPr indent="-285750" lvl="0" marL="457200" rtl="0" algn="l">
              <a:lnSpc>
                <a:spcPct val="115000"/>
              </a:lnSpc>
              <a:spcBef>
                <a:spcPts val="0"/>
              </a:spcBef>
              <a:spcAft>
                <a:spcPts val="0"/>
              </a:spcAft>
              <a:buClr>
                <a:srgbClr val="595959"/>
              </a:buClr>
              <a:buSzPts val="900"/>
              <a:buChar char="-"/>
            </a:pPr>
            <a:r>
              <a:rPr lang="en" sz="900">
                <a:solidFill>
                  <a:srgbClr val="595959"/>
                </a:solidFill>
              </a:rPr>
              <a:t>In a model with over 200 parameters, traditional regression methods might struggle with multicollinearity and overfitting, making it difficult to identify which variables are truly driving the results. Lasso helps by narrowing down the variables to those that are statistically significant and meaningful predictors of pollution levels.</a:t>
            </a:r>
            <a:endParaRPr sz="900">
              <a:solidFill>
                <a:srgbClr val="595959"/>
              </a:solidFill>
            </a:endParaRPr>
          </a:p>
          <a:p>
            <a:pPr indent="-285750" lvl="0" marL="457200" rtl="0" algn="l">
              <a:lnSpc>
                <a:spcPct val="115000"/>
              </a:lnSpc>
              <a:spcBef>
                <a:spcPts val="0"/>
              </a:spcBef>
              <a:spcAft>
                <a:spcPts val="0"/>
              </a:spcAft>
              <a:buClr>
                <a:srgbClr val="595959"/>
              </a:buClr>
              <a:buSzPts val="900"/>
              <a:buChar char="-"/>
            </a:pPr>
            <a:r>
              <a:rPr lang="en" sz="900">
                <a:solidFill>
                  <a:srgbClr val="595959"/>
                </a:solidFill>
              </a:rPr>
              <a:t>Additionally, Lasso allows us to handle the complexity of high-dimensional data without losing the ability to make accurate and interpretable inferences, making it a practical choice for a study that involves numerous control variables and potential confounders.</a:t>
            </a:r>
            <a:endParaRPr sz="900">
              <a:solidFill>
                <a:srgbClr val="595959"/>
              </a:solidFill>
            </a:endParaRPr>
          </a:p>
          <a:p>
            <a:pPr indent="0" lvl="0" marL="0" rtl="0" algn="l">
              <a:lnSpc>
                <a:spcPct val="115000"/>
              </a:lnSpc>
              <a:spcBef>
                <a:spcPts val="0"/>
              </a:spcBef>
              <a:spcAft>
                <a:spcPts val="0"/>
              </a:spcAft>
              <a:buNone/>
            </a:pPr>
            <a:r>
              <a:t/>
            </a:r>
            <a:endParaRPr sz="900">
              <a:solidFill>
                <a:srgbClr val="595959"/>
              </a:solidFill>
            </a:endParaRPr>
          </a:p>
          <a:p>
            <a:pPr indent="0" lvl="0" marL="0" rtl="0" algn="l">
              <a:lnSpc>
                <a:spcPct val="115000"/>
              </a:lnSpc>
              <a:spcBef>
                <a:spcPts val="0"/>
              </a:spcBef>
              <a:spcAft>
                <a:spcPts val="0"/>
              </a:spcAft>
              <a:buNone/>
            </a:pPr>
            <a:r>
              <a:t/>
            </a:r>
            <a:endParaRPr sz="900">
              <a:solidFill>
                <a:srgbClr val="595959"/>
              </a:solidFill>
            </a:endParaRPr>
          </a:p>
          <a:p>
            <a:pPr indent="0" lvl="0" marL="0" rtl="0" algn="l">
              <a:lnSpc>
                <a:spcPct val="115000"/>
              </a:lnSpc>
              <a:spcBef>
                <a:spcPts val="0"/>
              </a:spcBef>
              <a:spcAft>
                <a:spcPts val="0"/>
              </a:spcAft>
              <a:buClr>
                <a:schemeClr val="dk1"/>
              </a:buClr>
              <a:buSzPts val="1100"/>
              <a:buFont typeface="Arial"/>
              <a:buNone/>
            </a:pPr>
            <a:r>
              <a:rPr lang="en" sz="900">
                <a:solidFill>
                  <a:srgbClr val="595959"/>
                </a:solidFill>
              </a:rPr>
              <a:t>Why Use These Two Approaches Together?</a:t>
            </a:r>
            <a:endParaRPr sz="900">
              <a:solidFill>
                <a:srgbClr val="595959"/>
              </a:solidFill>
            </a:endParaRPr>
          </a:p>
          <a:p>
            <a:pPr indent="-285750" lvl="0" marL="457200" rtl="0" algn="l">
              <a:lnSpc>
                <a:spcPct val="115000"/>
              </a:lnSpc>
              <a:spcBef>
                <a:spcPts val="0"/>
              </a:spcBef>
              <a:spcAft>
                <a:spcPts val="0"/>
              </a:spcAft>
              <a:buClr>
                <a:srgbClr val="595959"/>
              </a:buClr>
              <a:buSzPts val="900"/>
              <a:buChar char="-"/>
            </a:pPr>
            <a:r>
              <a:rPr lang="en" sz="900">
                <a:solidFill>
                  <a:srgbClr val="595959"/>
                </a:solidFill>
              </a:rPr>
              <a:t>Placebo tests provide external validation by ensuring that the observed effects are not due to random chance or biases in the model, helping us verify the causality of the intervention.</a:t>
            </a:r>
            <a:endParaRPr sz="900">
              <a:solidFill>
                <a:srgbClr val="595959"/>
              </a:solidFill>
            </a:endParaRPr>
          </a:p>
          <a:p>
            <a:pPr indent="-285750" lvl="0" marL="457200" rtl="0" algn="l">
              <a:lnSpc>
                <a:spcPct val="115000"/>
              </a:lnSpc>
              <a:spcBef>
                <a:spcPts val="0"/>
              </a:spcBef>
              <a:spcAft>
                <a:spcPts val="0"/>
              </a:spcAft>
              <a:buClr>
                <a:srgbClr val="595959"/>
              </a:buClr>
              <a:buSzPts val="900"/>
              <a:buChar char="-"/>
            </a:pPr>
            <a:r>
              <a:rPr lang="en" sz="900">
                <a:solidFill>
                  <a:srgbClr val="595959"/>
                </a:solidFill>
              </a:rPr>
              <a:t>Lasso regression enhances the model’s internal validity by refining the selection of variables, ensuring that we’re focusing on the most critical factors that influence pollution, and avoiding the pitfalls of high-dimensional data.</a:t>
            </a:r>
            <a:endParaRPr sz="900">
              <a:solidFill>
                <a:srgbClr val="595959"/>
              </a:solidFill>
            </a:endParaRPr>
          </a:p>
          <a:p>
            <a:pPr indent="-285750" lvl="0" marL="457200" rtl="0" algn="l">
              <a:lnSpc>
                <a:spcPct val="115000"/>
              </a:lnSpc>
              <a:spcBef>
                <a:spcPts val="0"/>
              </a:spcBef>
              <a:spcAft>
                <a:spcPts val="0"/>
              </a:spcAft>
              <a:buClr>
                <a:srgbClr val="595959"/>
              </a:buClr>
              <a:buSzPts val="900"/>
              <a:buChar char="-"/>
            </a:pPr>
            <a:r>
              <a:rPr lang="en" sz="900">
                <a:solidFill>
                  <a:srgbClr val="595959"/>
                </a:solidFill>
              </a:rPr>
              <a:t>By using both these avenues—placebo tests for robustness checks and Lasso regression for dimensionality reduction—we can more confidently validate the results of the original study and extend its findings with a higher degree of rigor and reliability.</a:t>
            </a:r>
            <a:endParaRPr sz="900">
              <a:solidFill>
                <a:srgbClr val="595959"/>
              </a:solidFill>
            </a:endParaRPr>
          </a:p>
          <a:p>
            <a:pPr indent="0" lvl="0" marL="0" rtl="0" algn="l">
              <a:lnSpc>
                <a:spcPct val="115000"/>
              </a:lnSpc>
              <a:spcBef>
                <a:spcPts val="0"/>
              </a:spcBef>
              <a:spcAft>
                <a:spcPts val="1200"/>
              </a:spcAft>
              <a:buNone/>
            </a:pPr>
            <a:r>
              <a:t/>
            </a:r>
            <a:endParaRPr sz="900">
              <a:solidFill>
                <a:srgbClr val="595959"/>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180a6d1ca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180a6d1ca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Agrees with </a:t>
            </a:r>
            <a:r>
              <a:rPr lang="en"/>
              <a:t>researchers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are our results from the placebo tests on the Carbon monoxide regression. As you can see, the beta for our original estimate is well below the 95th percentile.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18b445889d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18b445889d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a:t>
            </a:r>
            <a:r>
              <a:rPr lang="en">
                <a:solidFill>
                  <a:schemeClr val="dk1"/>
                </a:solidFill>
              </a:rPr>
              <a:t>grees with researchers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And as we can see here the same holds for the Nitrous Oxides. This adds weight to the researchers original result by showing a lack of discontinuity in our regressands, reinforcing the idea that the jump we see at the date of the metro opening is indeed caused by the new form of transportation and not another factor.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18b445889d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18b445889d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we </a:t>
            </a:r>
            <a:r>
              <a:rPr lang="en"/>
              <a:t>have</a:t>
            </a:r>
            <a:r>
              <a:rPr lang="en"/>
              <a:t> the results of the lasso regression. As we can see, both the income and presence of metro dummy </a:t>
            </a:r>
            <a:r>
              <a:rPr lang="en"/>
              <a:t>variables are good predictors of pollutant levels which aligned with the researchers findings as those factors were significant. However, while the interaction term between the two is not present in the carbon monoxide regression, it is in the nitrous oxide variant. This challenges the researchers claims as they found no significant heterogeneity for either pollutant yet it remains a good predictor for one of them. It should be noted that there were other differences between the original model and our  lasso on less important variables. For example, wind speed variables, days of the week and hours fixed effects were significant and good predictors while month fixed effects were generally not significant, yet appear to be good predictors.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Lasso generally agrees with RD OLS for CO, interaction shows up in lasso for NOx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Wind,days of the week,</a:t>
            </a:r>
            <a:r>
              <a:rPr lang="en"/>
              <a:t>hours are</a:t>
            </a:r>
            <a:r>
              <a:rPr lang="en"/>
              <a:t> significant, month is not but shows up in lasso</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18b445889d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18b445889d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we mentioned, hour fixed effects were s and they show up here as good predictors.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18b445889d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18b445889d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Placebo tests back up original result showing no difference in the effect of the metro between high and low income areas while the interaction between high poverty and the opening of the metro are good predictors of nitrous oxide but not carbon monoxide emissions challenging the original result.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18b445889d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18b445889d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So here are some issues and improvements we believe can be made to both the project and our work. We have a couple here that we </a:t>
            </a:r>
            <a:r>
              <a:rPr lang="en"/>
              <a:t>believe</a:t>
            </a:r>
            <a:r>
              <a:rPr lang="en"/>
              <a:t> are most important and should be focused on for the sake of time.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Window</a:t>
            </a:r>
            <a:r>
              <a:rPr lang="en"/>
              <a:t> choice</a:t>
            </a:r>
            <a:endParaRPr/>
          </a:p>
          <a:p>
            <a:pPr indent="0" lvl="0" marL="0" rtl="0" algn="l">
              <a:spcBef>
                <a:spcPts val="0"/>
              </a:spcBef>
              <a:spcAft>
                <a:spcPts val="0"/>
              </a:spcAft>
              <a:buNone/>
            </a:pPr>
            <a:r>
              <a:rPr lang="en"/>
              <a:t>2 year was picked because it balanced the tradeoff between less precise estimates due to small sample size and conceptual benefits of using data closer to cutoff. Controlling for seasonal variation in air pollution is hard with less than two years of data due to small sample size. They did also use  2 months as a validity check</a:t>
            </a:r>
            <a:br>
              <a:rPr lang="en"/>
            </a:br>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Data for sorting households was gotten from dates outside of sample dates 2006</a:t>
            </a:r>
            <a:endParaRPr/>
          </a:p>
          <a:p>
            <a:pPr indent="0" lvl="0" marL="0" rtl="0" algn="l">
              <a:spcBef>
                <a:spcPts val="0"/>
              </a:spcBef>
              <a:spcAft>
                <a:spcPts val="0"/>
              </a:spcAft>
              <a:buNone/>
            </a:pPr>
            <a:r>
              <a:rPr lang="en"/>
              <a:t>Demographic data was from 2006 </a:t>
            </a:r>
            <a:br>
              <a:rPr lang="en"/>
            </a:br>
            <a:endParaRPr/>
          </a:p>
          <a:p>
            <a:pPr indent="0" lvl="0" marL="0" rtl="0" algn="l">
              <a:spcBef>
                <a:spcPts val="0"/>
              </a:spcBef>
              <a:spcAft>
                <a:spcPts val="0"/>
              </a:spcAft>
              <a:buNone/>
            </a:pPr>
            <a:r>
              <a:rPr lang="en"/>
              <a:t>Using AICc instead of AIC to select clustering level </a:t>
            </a:r>
            <a:br>
              <a:rPr lang="en"/>
            </a:br>
            <a:r>
              <a:rPr lang="en"/>
              <a:t>Using AICc instead of AIC to select clustering level (not part of our project but something we thought would be interesting ). AICc is a good idea as it offers an extra penalty term to punish overfitting and for large sample sizes they converge to the same values anyway. </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18b445889d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18b445889d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4.jp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5.png"/><Relationship Id="rId6" Type="http://schemas.openxmlformats.org/officeDocument/2006/relationships/image" Target="../media/image3.png"/><Relationship Id="rId7"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8.png"/><Relationship Id="rId5" Type="http://schemas.openxmlformats.org/officeDocument/2006/relationships/image" Target="../media/image17.png"/><Relationship Id="rId6" Type="http://schemas.openxmlformats.org/officeDocument/2006/relationships/image" Target="../media/image12.png"/><Relationship Id="rId7"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1.png"/><Relationship Id="rId5" Type="http://schemas.openxmlformats.org/officeDocument/2006/relationships/image" Target="../media/image9.png"/><Relationship Id="rId6"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0.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5.png"/><Relationship Id="rId5"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descr="File:TRTS Route Map after Jul, 2015.svg - Wikipedia" id="54" name="Google Shape;54;p13"/>
          <p:cNvPicPr preferRelativeResize="0"/>
          <p:nvPr/>
        </p:nvPicPr>
        <p:blipFill>
          <a:blip r:embed="rId3">
            <a:alphaModFix amt="10000"/>
          </a:blip>
          <a:stretch>
            <a:fillRect/>
          </a:stretch>
        </p:blipFill>
        <p:spPr>
          <a:xfrm>
            <a:off x="0" y="0"/>
            <a:ext cx="9087850" cy="5143500"/>
          </a:xfrm>
          <a:prstGeom prst="rect">
            <a:avLst/>
          </a:prstGeom>
          <a:noFill/>
          <a:ln>
            <a:noFill/>
          </a:ln>
        </p:spPr>
      </p:pic>
      <p:sp>
        <p:nvSpPr>
          <p:cNvPr id="55" name="Google Shape;55;p13"/>
          <p:cNvSpPr txBox="1"/>
          <p:nvPr>
            <p:ph type="ctrTitle"/>
          </p:nvPr>
        </p:nvSpPr>
        <p:spPr>
          <a:xfrm>
            <a:off x="311700" y="1351275"/>
            <a:ext cx="8520600" cy="15975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000"/>
              <a:t>Using Econometric Modeling to Assess the Impacts of Rail Infrastructure on Air Quality</a:t>
            </a:r>
            <a:endParaRPr sz="3000"/>
          </a:p>
        </p:txBody>
      </p:sp>
      <p:sp>
        <p:nvSpPr>
          <p:cNvPr id="56" name="Google Shape;56;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1</a:t>
            </a:r>
            <a:endParaRPr/>
          </a:p>
          <a:p>
            <a:pPr indent="0" lvl="0" marL="0" rtl="0" algn="r">
              <a:spcBef>
                <a:spcPts val="0"/>
              </a:spcBef>
              <a:spcAft>
                <a:spcPts val="0"/>
              </a:spcAft>
              <a:buNone/>
            </a:pPr>
            <a:r>
              <a:t/>
            </a:r>
            <a:endParaRPr/>
          </a:p>
        </p:txBody>
      </p:sp>
      <p:sp>
        <p:nvSpPr>
          <p:cNvPr id="57" name="Google Shape;57;p13"/>
          <p:cNvSpPr txBox="1"/>
          <p:nvPr>
            <p:ph idx="1" type="subTitle"/>
          </p:nvPr>
        </p:nvSpPr>
        <p:spPr>
          <a:xfrm>
            <a:off x="311700" y="3110475"/>
            <a:ext cx="8520600" cy="1014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000"/>
              <a:t>ECON-570, Fall 2024 Final Project, </a:t>
            </a:r>
            <a:r>
              <a:rPr lang="en" sz="2000"/>
              <a:t>Group 2</a:t>
            </a:r>
            <a:endParaRPr sz="2000"/>
          </a:p>
          <a:p>
            <a:pPr indent="0" lvl="0" marL="0" rtl="0" algn="ctr">
              <a:spcBef>
                <a:spcPts val="0"/>
              </a:spcBef>
              <a:spcAft>
                <a:spcPts val="0"/>
              </a:spcAft>
              <a:buNone/>
            </a:pPr>
            <a:r>
              <a:t/>
            </a:r>
            <a:endParaRPr sz="800"/>
          </a:p>
          <a:p>
            <a:pPr indent="0" lvl="0" marL="0" rtl="0" algn="ctr">
              <a:spcBef>
                <a:spcPts val="0"/>
              </a:spcBef>
              <a:spcAft>
                <a:spcPts val="0"/>
              </a:spcAft>
              <a:buNone/>
            </a:pPr>
            <a:r>
              <a:rPr lang="en" sz="2000">
                <a:solidFill>
                  <a:srgbClr val="202122"/>
                </a:solidFill>
                <a:highlight>
                  <a:srgbClr val="FFFFFF"/>
                </a:highlight>
              </a:rPr>
              <a:t>Bruna Mendes, Mia Fong, You-seok Hur, Ibukunoluwa Kolade, Effie Li</a:t>
            </a:r>
            <a:endParaRPr sz="2000">
              <a:solidFill>
                <a:srgbClr val="202122"/>
              </a:solidFill>
              <a:highlight>
                <a:srgbClr val="FFFFFF"/>
              </a:highlight>
            </a:endParaRPr>
          </a:p>
        </p:txBody>
      </p:sp>
      <p:pic>
        <p:nvPicPr>
          <p:cNvPr id="58" name="Google Shape;58;p13"/>
          <p:cNvPicPr preferRelativeResize="0"/>
          <p:nvPr/>
        </p:nvPicPr>
        <p:blipFill>
          <a:blip r:embed="rId4">
            <a:alphaModFix/>
          </a:blip>
          <a:stretch>
            <a:fillRect/>
          </a:stretch>
        </p:blipFill>
        <p:spPr>
          <a:xfrm>
            <a:off x="119625" y="240125"/>
            <a:ext cx="2474724" cy="529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311700" y="673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Presentation </a:t>
            </a:r>
            <a:r>
              <a:rPr b="1" lang="en"/>
              <a:t>Overview</a:t>
            </a:r>
            <a:endParaRPr b="1"/>
          </a:p>
        </p:txBody>
      </p:sp>
      <p:sp>
        <p:nvSpPr>
          <p:cNvPr id="64" name="Google Shape;64;p14"/>
          <p:cNvSpPr txBox="1"/>
          <p:nvPr>
            <p:ph idx="1" type="body"/>
          </p:nvPr>
        </p:nvSpPr>
        <p:spPr>
          <a:xfrm>
            <a:off x="311700" y="1369025"/>
            <a:ext cx="4828500" cy="3416400"/>
          </a:xfrm>
          <a:prstGeom prst="rect">
            <a:avLst/>
          </a:prstGeom>
        </p:spPr>
        <p:txBody>
          <a:bodyPr anchorCtr="0" anchor="t" bIns="91425" lIns="91425" spcFirstLastPara="1" rIns="91425" wrap="square" tIns="91425">
            <a:noAutofit/>
          </a:bodyPr>
          <a:lstStyle/>
          <a:p>
            <a:pPr indent="-374650" lvl="0" marL="457200" rtl="0" algn="l">
              <a:lnSpc>
                <a:spcPct val="100000"/>
              </a:lnSpc>
              <a:spcBef>
                <a:spcPts val="0"/>
              </a:spcBef>
              <a:spcAft>
                <a:spcPts val="0"/>
              </a:spcAft>
              <a:buSzPts val="2300"/>
              <a:buAutoNum type="arabicPeriod"/>
            </a:pPr>
            <a:r>
              <a:rPr lang="en" sz="2300"/>
              <a:t>Introduction</a:t>
            </a:r>
            <a:endParaRPr sz="2300"/>
          </a:p>
          <a:p>
            <a:pPr indent="-342900" lvl="1" marL="914400" rtl="0" algn="l">
              <a:lnSpc>
                <a:spcPct val="100000"/>
              </a:lnSpc>
              <a:spcBef>
                <a:spcPts val="0"/>
              </a:spcBef>
              <a:spcAft>
                <a:spcPts val="0"/>
              </a:spcAft>
              <a:buSzPts val="1800"/>
              <a:buAutoNum type="alphaLcPeriod"/>
            </a:pPr>
            <a:r>
              <a:rPr lang="en" sz="1800"/>
              <a:t>Background and research question</a:t>
            </a:r>
            <a:endParaRPr sz="1800"/>
          </a:p>
          <a:p>
            <a:pPr indent="-374650" lvl="0" marL="457200" rtl="0" algn="l">
              <a:lnSpc>
                <a:spcPct val="100000"/>
              </a:lnSpc>
              <a:spcBef>
                <a:spcPts val="0"/>
              </a:spcBef>
              <a:spcAft>
                <a:spcPts val="0"/>
              </a:spcAft>
              <a:buSzPts val="2300"/>
              <a:buAutoNum type="arabicPeriod"/>
            </a:pPr>
            <a:r>
              <a:rPr lang="en" sz="2300"/>
              <a:t>Study</a:t>
            </a:r>
            <a:endParaRPr sz="2300"/>
          </a:p>
          <a:p>
            <a:pPr indent="-342900" lvl="1" marL="914400" rtl="0" algn="l">
              <a:lnSpc>
                <a:spcPct val="100000"/>
              </a:lnSpc>
              <a:spcBef>
                <a:spcPts val="0"/>
              </a:spcBef>
              <a:spcAft>
                <a:spcPts val="0"/>
              </a:spcAft>
              <a:buSzPts val="1800"/>
              <a:buAutoNum type="alphaLcPeriod"/>
            </a:pPr>
            <a:r>
              <a:rPr lang="en" sz="1800"/>
              <a:t>Introduction to the paper of interest</a:t>
            </a:r>
            <a:endParaRPr sz="1800"/>
          </a:p>
          <a:p>
            <a:pPr indent="-374650" lvl="0" marL="457200" rtl="0" algn="l">
              <a:lnSpc>
                <a:spcPct val="100000"/>
              </a:lnSpc>
              <a:spcBef>
                <a:spcPts val="0"/>
              </a:spcBef>
              <a:spcAft>
                <a:spcPts val="0"/>
              </a:spcAft>
              <a:buSzPts val="2300"/>
              <a:buAutoNum type="arabicPeriod"/>
            </a:pPr>
            <a:r>
              <a:rPr lang="en" sz="2300"/>
              <a:t>About the Data</a:t>
            </a:r>
            <a:endParaRPr sz="2300"/>
          </a:p>
          <a:p>
            <a:pPr indent="-374650" lvl="0" marL="457200" rtl="0" algn="l">
              <a:lnSpc>
                <a:spcPct val="100000"/>
              </a:lnSpc>
              <a:spcBef>
                <a:spcPts val="0"/>
              </a:spcBef>
              <a:spcAft>
                <a:spcPts val="0"/>
              </a:spcAft>
              <a:buSzPts val="2300"/>
              <a:buAutoNum type="arabicPeriod"/>
            </a:pPr>
            <a:r>
              <a:rPr lang="en" sz="2300"/>
              <a:t>Methods &amp; Results</a:t>
            </a:r>
            <a:endParaRPr sz="2300"/>
          </a:p>
          <a:p>
            <a:pPr indent="-374650" lvl="0" marL="457200" rtl="0" algn="l">
              <a:lnSpc>
                <a:spcPct val="100000"/>
              </a:lnSpc>
              <a:spcBef>
                <a:spcPts val="0"/>
              </a:spcBef>
              <a:spcAft>
                <a:spcPts val="0"/>
              </a:spcAft>
              <a:buSzPts val="2300"/>
              <a:buAutoNum type="arabicPeriod"/>
            </a:pPr>
            <a:r>
              <a:rPr lang="en" sz="2300"/>
              <a:t>Ideas &amp; Next Step</a:t>
            </a:r>
            <a:endParaRPr sz="2300"/>
          </a:p>
        </p:txBody>
      </p:sp>
      <p:sp>
        <p:nvSpPr>
          <p:cNvPr id="65" name="Google Shape;65;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2</a:t>
            </a:r>
            <a:endParaRPr/>
          </a:p>
          <a:p>
            <a:pPr indent="0" lvl="0" marL="0" rtl="0" algn="ctr">
              <a:spcBef>
                <a:spcPts val="0"/>
              </a:spcBef>
              <a:spcAft>
                <a:spcPts val="0"/>
              </a:spcAft>
              <a:buNone/>
            </a:pPr>
            <a:r>
              <a:t/>
            </a:r>
            <a:endParaRPr/>
          </a:p>
        </p:txBody>
      </p:sp>
      <p:pic>
        <p:nvPicPr>
          <p:cNvPr id="66" name="Google Shape;66;p14"/>
          <p:cNvPicPr preferRelativeResize="0"/>
          <p:nvPr/>
        </p:nvPicPr>
        <p:blipFill>
          <a:blip r:embed="rId3">
            <a:alphaModFix/>
          </a:blip>
          <a:stretch>
            <a:fillRect/>
          </a:stretch>
        </p:blipFill>
        <p:spPr>
          <a:xfrm>
            <a:off x="5240225" y="837788"/>
            <a:ext cx="3620325" cy="3620325"/>
          </a:xfrm>
          <a:prstGeom prst="rect">
            <a:avLst/>
          </a:prstGeom>
          <a:noFill/>
          <a:ln>
            <a:noFill/>
          </a:ln>
        </p:spPr>
      </p:pic>
      <p:cxnSp>
        <p:nvCxnSpPr>
          <p:cNvPr id="67" name="Google Shape;67;p14"/>
          <p:cNvCxnSpPr>
            <a:endCxn id="63" idx="2"/>
          </p:cNvCxnSpPr>
          <p:nvPr/>
        </p:nvCxnSpPr>
        <p:spPr>
          <a:xfrm>
            <a:off x="229200" y="1246325"/>
            <a:ext cx="4342800" cy="0"/>
          </a:xfrm>
          <a:prstGeom prst="straightConnector1">
            <a:avLst/>
          </a:prstGeom>
          <a:noFill/>
          <a:ln cap="flat" cmpd="sng" w="9525">
            <a:solidFill>
              <a:schemeClr val="dk2"/>
            </a:solidFill>
            <a:prstDash val="solid"/>
            <a:round/>
            <a:headEnd len="med" w="med" type="none"/>
            <a:tailEnd len="med" w="med" type="none"/>
          </a:ln>
        </p:spPr>
      </p:cxnSp>
      <p:pic>
        <p:nvPicPr>
          <p:cNvPr id="68" name="Google Shape;68;p14"/>
          <p:cNvPicPr preferRelativeResize="0"/>
          <p:nvPr/>
        </p:nvPicPr>
        <p:blipFill>
          <a:blip r:embed="rId4">
            <a:alphaModFix/>
          </a:blip>
          <a:stretch>
            <a:fillRect/>
          </a:stretch>
        </p:blipFill>
        <p:spPr>
          <a:xfrm>
            <a:off x="153000" y="115875"/>
            <a:ext cx="1840351" cy="3936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p:nvPr/>
        </p:nvSpPr>
        <p:spPr>
          <a:xfrm>
            <a:off x="339275" y="1689850"/>
            <a:ext cx="1867800" cy="2142300"/>
          </a:xfrm>
          <a:prstGeom prst="rect">
            <a:avLst/>
          </a:prstGeom>
          <a:noFill/>
          <a:ln cap="flat" cmpd="sng" w="381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 name="Google Shape;74;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388620" lvl="0" marL="457200" rtl="0" algn="l">
              <a:spcBef>
                <a:spcPts val="0"/>
              </a:spcBef>
              <a:spcAft>
                <a:spcPts val="0"/>
              </a:spcAft>
              <a:buSzPct val="100000"/>
              <a:buAutoNum type="arabicPeriod"/>
            </a:pPr>
            <a:r>
              <a:rPr b="1" lang="en"/>
              <a:t>Introduction</a:t>
            </a:r>
            <a:endParaRPr b="1"/>
          </a:p>
        </p:txBody>
      </p:sp>
      <p:sp>
        <p:nvSpPr>
          <p:cNvPr id="75" name="Google Shape;75;p15"/>
          <p:cNvSpPr txBox="1"/>
          <p:nvPr>
            <p:ph idx="1" type="body"/>
          </p:nvPr>
        </p:nvSpPr>
        <p:spPr>
          <a:xfrm>
            <a:off x="387900" y="3962550"/>
            <a:ext cx="8520600" cy="7476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b="1" lang="en"/>
              <a:t>Main Research Question:</a:t>
            </a:r>
            <a:endParaRPr b="1"/>
          </a:p>
          <a:p>
            <a:pPr indent="0" lvl="0" marL="0" rtl="0" algn="l">
              <a:lnSpc>
                <a:spcPct val="95000"/>
              </a:lnSpc>
              <a:spcBef>
                <a:spcPts val="1200"/>
              </a:spcBef>
              <a:spcAft>
                <a:spcPts val="0"/>
              </a:spcAft>
              <a:buSzPts val="275"/>
              <a:buNone/>
            </a:pPr>
            <a:r>
              <a:rPr b="1" lang="en"/>
              <a:t>“The Effect of Introducing a Public-Transportation over Air Pollution”</a:t>
            </a:r>
            <a:endParaRPr b="1"/>
          </a:p>
          <a:p>
            <a:pPr indent="0" lvl="0" marL="0" rtl="0" algn="l">
              <a:lnSpc>
                <a:spcPct val="95000"/>
              </a:lnSpc>
              <a:spcBef>
                <a:spcPts val="1200"/>
              </a:spcBef>
              <a:spcAft>
                <a:spcPts val="0"/>
              </a:spcAft>
              <a:buSzPts val="275"/>
              <a:buNone/>
            </a:pPr>
            <a:r>
              <a:t/>
            </a:r>
            <a:endParaRPr b="1"/>
          </a:p>
          <a:p>
            <a:pPr indent="0" lvl="0" marL="0" rtl="0" algn="l">
              <a:lnSpc>
                <a:spcPct val="95000"/>
              </a:lnSpc>
              <a:spcBef>
                <a:spcPts val="1200"/>
              </a:spcBef>
              <a:spcAft>
                <a:spcPts val="1200"/>
              </a:spcAft>
              <a:buSzPts val="275"/>
              <a:buNone/>
            </a:pPr>
            <a:r>
              <a:t/>
            </a:r>
            <a:endParaRPr b="1"/>
          </a:p>
        </p:txBody>
      </p:sp>
      <p:sp>
        <p:nvSpPr>
          <p:cNvPr id="76" name="Google Shape;76;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t>1</a:t>
            </a:r>
            <a:endParaRPr/>
          </a:p>
        </p:txBody>
      </p:sp>
      <p:cxnSp>
        <p:nvCxnSpPr>
          <p:cNvPr id="77" name="Google Shape;77;p15"/>
          <p:cNvCxnSpPr/>
          <p:nvPr/>
        </p:nvCxnSpPr>
        <p:spPr>
          <a:xfrm flipH="1" rot="10800000">
            <a:off x="317525" y="993975"/>
            <a:ext cx="8307900" cy="10800"/>
          </a:xfrm>
          <a:prstGeom prst="straightConnector1">
            <a:avLst/>
          </a:prstGeom>
          <a:noFill/>
          <a:ln cap="flat" cmpd="sng" w="9525">
            <a:solidFill>
              <a:schemeClr val="dk2"/>
            </a:solidFill>
            <a:prstDash val="solid"/>
            <a:round/>
            <a:headEnd len="med" w="med" type="none"/>
            <a:tailEnd len="med" w="med" type="none"/>
          </a:ln>
        </p:spPr>
      </p:cxnSp>
      <p:sp>
        <p:nvSpPr>
          <p:cNvPr id="78" name="Google Shape;78;p15"/>
          <p:cNvSpPr txBox="1"/>
          <p:nvPr/>
        </p:nvSpPr>
        <p:spPr>
          <a:xfrm>
            <a:off x="317525" y="1083186"/>
            <a:ext cx="83079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The majority of air pollution (CO</a:t>
            </a:r>
            <a:r>
              <a:rPr lang="en" sz="1000">
                <a:solidFill>
                  <a:schemeClr val="dk2"/>
                </a:solidFill>
              </a:rPr>
              <a:t>2</a:t>
            </a:r>
            <a:r>
              <a:rPr lang="en" sz="1800">
                <a:solidFill>
                  <a:schemeClr val="dk2"/>
                </a:solidFill>
              </a:rPr>
              <a:t>, NO</a:t>
            </a:r>
            <a:r>
              <a:rPr lang="en" sz="1000">
                <a:solidFill>
                  <a:schemeClr val="dk2"/>
                </a:solidFill>
              </a:rPr>
              <a:t>X</a:t>
            </a:r>
            <a:r>
              <a:rPr lang="en" sz="1800">
                <a:solidFill>
                  <a:schemeClr val="dk2"/>
                </a:solidFill>
              </a:rPr>
              <a:t>) comes from…</a:t>
            </a:r>
            <a:endParaRPr sz="1800">
              <a:solidFill>
                <a:schemeClr val="dk2"/>
              </a:solidFill>
            </a:endParaRPr>
          </a:p>
        </p:txBody>
      </p:sp>
      <p:pic>
        <p:nvPicPr>
          <p:cNvPr id="79" name="Google Shape;79;p15"/>
          <p:cNvPicPr preferRelativeResize="0"/>
          <p:nvPr/>
        </p:nvPicPr>
        <p:blipFill>
          <a:blip r:embed="rId3">
            <a:alphaModFix/>
          </a:blip>
          <a:stretch>
            <a:fillRect/>
          </a:stretch>
        </p:blipFill>
        <p:spPr>
          <a:xfrm>
            <a:off x="391650" y="1703111"/>
            <a:ext cx="1737276" cy="1737276"/>
          </a:xfrm>
          <a:prstGeom prst="rect">
            <a:avLst/>
          </a:prstGeom>
          <a:noFill/>
          <a:ln>
            <a:noFill/>
          </a:ln>
        </p:spPr>
      </p:pic>
      <p:pic>
        <p:nvPicPr>
          <p:cNvPr id="80" name="Google Shape;80;p15"/>
          <p:cNvPicPr preferRelativeResize="0"/>
          <p:nvPr/>
        </p:nvPicPr>
        <p:blipFill>
          <a:blip r:embed="rId4">
            <a:alphaModFix/>
          </a:blip>
          <a:stretch>
            <a:fillRect/>
          </a:stretch>
        </p:blipFill>
        <p:spPr>
          <a:xfrm>
            <a:off x="2596675" y="1702925"/>
            <a:ext cx="1737275" cy="1737275"/>
          </a:xfrm>
          <a:prstGeom prst="rect">
            <a:avLst/>
          </a:prstGeom>
          <a:noFill/>
          <a:ln>
            <a:noFill/>
          </a:ln>
        </p:spPr>
      </p:pic>
      <p:pic>
        <p:nvPicPr>
          <p:cNvPr id="81" name="Google Shape;81;p15"/>
          <p:cNvPicPr preferRelativeResize="0"/>
          <p:nvPr/>
        </p:nvPicPr>
        <p:blipFill>
          <a:blip r:embed="rId5">
            <a:alphaModFix/>
          </a:blip>
          <a:stretch>
            <a:fillRect/>
          </a:stretch>
        </p:blipFill>
        <p:spPr>
          <a:xfrm>
            <a:off x="4736450" y="1779123"/>
            <a:ext cx="1737276" cy="1737276"/>
          </a:xfrm>
          <a:prstGeom prst="rect">
            <a:avLst/>
          </a:prstGeom>
          <a:noFill/>
          <a:ln>
            <a:noFill/>
          </a:ln>
        </p:spPr>
      </p:pic>
      <p:pic>
        <p:nvPicPr>
          <p:cNvPr id="82" name="Google Shape;82;p15"/>
          <p:cNvPicPr preferRelativeResize="0"/>
          <p:nvPr/>
        </p:nvPicPr>
        <p:blipFill>
          <a:blip r:embed="rId6">
            <a:alphaModFix/>
          </a:blip>
          <a:stretch>
            <a:fillRect/>
          </a:stretch>
        </p:blipFill>
        <p:spPr>
          <a:xfrm>
            <a:off x="6772000" y="1721350"/>
            <a:ext cx="1700438" cy="1700438"/>
          </a:xfrm>
          <a:prstGeom prst="rect">
            <a:avLst/>
          </a:prstGeom>
          <a:noFill/>
          <a:ln>
            <a:noFill/>
          </a:ln>
        </p:spPr>
      </p:pic>
      <p:sp>
        <p:nvSpPr>
          <p:cNvPr id="83" name="Google Shape;83;p15"/>
          <p:cNvSpPr txBox="1"/>
          <p:nvPr/>
        </p:nvSpPr>
        <p:spPr>
          <a:xfrm>
            <a:off x="469775" y="3407975"/>
            <a:ext cx="17373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Transportation</a:t>
            </a:r>
            <a:endParaRPr sz="1800">
              <a:solidFill>
                <a:schemeClr val="dk2"/>
              </a:solidFill>
            </a:endParaRPr>
          </a:p>
        </p:txBody>
      </p:sp>
      <p:sp>
        <p:nvSpPr>
          <p:cNvPr id="84" name="Google Shape;84;p15"/>
          <p:cNvSpPr txBox="1"/>
          <p:nvPr/>
        </p:nvSpPr>
        <p:spPr>
          <a:xfrm>
            <a:off x="2700875" y="3407975"/>
            <a:ext cx="17373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Industrial Act.</a:t>
            </a:r>
            <a:endParaRPr sz="1800">
              <a:solidFill>
                <a:schemeClr val="dk2"/>
              </a:solidFill>
            </a:endParaRPr>
          </a:p>
        </p:txBody>
      </p:sp>
      <p:sp>
        <p:nvSpPr>
          <p:cNvPr id="85" name="Google Shape;85;p15"/>
          <p:cNvSpPr txBox="1"/>
          <p:nvPr/>
        </p:nvSpPr>
        <p:spPr>
          <a:xfrm>
            <a:off x="4810475" y="3407975"/>
            <a:ext cx="17373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Electricity Gen.</a:t>
            </a:r>
            <a:endParaRPr sz="1800">
              <a:solidFill>
                <a:schemeClr val="dk2"/>
              </a:solidFill>
            </a:endParaRPr>
          </a:p>
        </p:txBody>
      </p:sp>
      <p:sp>
        <p:nvSpPr>
          <p:cNvPr id="86" name="Google Shape;86;p15"/>
          <p:cNvSpPr txBox="1"/>
          <p:nvPr/>
        </p:nvSpPr>
        <p:spPr>
          <a:xfrm>
            <a:off x="7054325" y="3407975"/>
            <a:ext cx="1135800" cy="34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Buildings</a:t>
            </a:r>
            <a:endParaRPr sz="1800">
              <a:solidFill>
                <a:schemeClr val="dk2"/>
              </a:solidFill>
            </a:endParaRPr>
          </a:p>
        </p:txBody>
      </p:sp>
      <p:pic>
        <p:nvPicPr>
          <p:cNvPr id="87" name="Google Shape;87;p15"/>
          <p:cNvPicPr preferRelativeResize="0"/>
          <p:nvPr/>
        </p:nvPicPr>
        <p:blipFill>
          <a:blip r:embed="rId7">
            <a:alphaModFix/>
          </a:blip>
          <a:stretch>
            <a:fillRect/>
          </a:stretch>
        </p:blipFill>
        <p:spPr>
          <a:xfrm>
            <a:off x="6785075" y="445025"/>
            <a:ext cx="1840351" cy="393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388620" lvl="0" marL="457200" rtl="0" algn="l">
              <a:spcBef>
                <a:spcPts val="0"/>
              </a:spcBef>
              <a:spcAft>
                <a:spcPts val="0"/>
              </a:spcAft>
              <a:buSzPct val="100000"/>
              <a:buAutoNum type="arabicPeriod"/>
            </a:pPr>
            <a:r>
              <a:rPr b="1" lang="en"/>
              <a:t>Introduction</a:t>
            </a:r>
            <a:endParaRPr b="1"/>
          </a:p>
        </p:txBody>
      </p:sp>
      <p:sp>
        <p:nvSpPr>
          <p:cNvPr id="93" name="Google Shape;93;p16"/>
          <p:cNvSpPr txBox="1"/>
          <p:nvPr>
            <p:ph idx="1" type="body"/>
          </p:nvPr>
        </p:nvSpPr>
        <p:spPr>
          <a:xfrm>
            <a:off x="311700" y="1078625"/>
            <a:ext cx="8520600" cy="470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t>Automobiles do play a large role in making Air Quality worse… </a:t>
            </a:r>
            <a:r>
              <a:rPr lang="en" sz="1400"/>
              <a:t>(Shafie &amp; Mahmud, 2020)</a:t>
            </a:r>
            <a:endParaRPr sz="1400"/>
          </a:p>
          <a:p>
            <a:pPr indent="0" lvl="0" marL="0" rtl="0" algn="l">
              <a:lnSpc>
                <a:spcPct val="100000"/>
              </a:lnSpc>
              <a:spcBef>
                <a:spcPts val="0"/>
              </a:spcBef>
              <a:spcAft>
                <a:spcPts val="0"/>
              </a:spcAft>
              <a:buNone/>
            </a:pPr>
            <a:r>
              <a:t/>
            </a:r>
            <a:endParaRPr/>
          </a:p>
          <a:p>
            <a:pPr indent="0" lvl="0" marL="0" rtl="0" algn="l">
              <a:lnSpc>
                <a:spcPct val="95000"/>
              </a:lnSpc>
              <a:spcBef>
                <a:spcPts val="0"/>
              </a:spcBef>
              <a:spcAft>
                <a:spcPts val="0"/>
              </a:spcAft>
              <a:buClr>
                <a:schemeClr val="dk1"/>
              </a:buClr>
              <a:buSzPts val="275"/>
              <a:buFont typeface="Arial"/>
              <a:buNone/>
            </a:pPr>
            <a:r>
              <a:t/>
            </a:r>
            <a:endParaRPr/>
          </a:p>
          <a:p>
            <a:pPr indent="0" lvl="0" marL="0" rtl="0" algn="l">
              <a:lnSpc>
                <a:spcPct val="100000"/>
              </a:lnSpc>
              <a:spcBef>
                <a:spcPts val="120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0" lvl="0" marL="0" rtl="0" algn="l">
              <a:spcBef>
                <a:spcPts val="0"/>
              </a:spcBef>
              <a:spcAft>
                <a:spcPts val="1200"/>
              </a:spcAft>
              <a:buNone/>
            </a:pPr>
            <a:r>
              <a:t/>
            </a:r>
            <a:endParaRPr/>
          </a:p>
        </p:txBody>
      </p:sp>
      <p:sp>
        <p:nvSpPr>
          <p:cNvPr id="94" name="Google Shape;9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t>2</a:t>
            </a:r>
            <a:endParaRPr/>
          </a:p>
        </p:txBody>
      </p:sp>
      <p:cxnSp>
        <p:nvCxnSpPr>
          <p:cNvPr id="95" name="Google Shape;95;p16"/>
          <p:cNvCxnSpPr/>
          <p:nvPr/>
        </p:nvCxnSpPr>
        <p:spPr>
          <a:xfrm flipH="1" rot="10800000">
            <a:off x="317525" y="993975"/>
            <a:ext cx="8307900" cy="10800"/>
          </a:xfrm>
          <a:prstGeom prst="straightConnector1">
            <a:avLst/>
          </a:prstGeom>
          <a:noFill/>
          <a:ln cap="flat" cmpd="sng" w="9525">
            <a:solidFill>
              <a:schemeClr val="dk2"/>
            </a:solidFill>
            <a:prstDash val="solid"/>
            <a:round/>
            <a:headEnd len="med" w="med" type="none"/>
            <a:tailEnd len="med" w="med" type="none"/>
          </a:ln>
        </p:spPr>
      </p:cxnSp>
      <p:grpSp>
        <p:nvGrpSpPr>
          <p:cNvPr id="96" name="Google Shape;96;p16"/>
          <p:cNvGrpSpPr/>
          <p:nvPr/>
        </p:nvGrpSpPr>
        <p:grpSpPr>
          <a:xfrm>
            <a:off x="1493999" y="1623181"/>
            <a:ext cx="6156007" cy="3040011"/>
            <a:chOff x="380988" y="1923300"/>
            <a:chExt cx="7770774" cy="3982200"/>
          </a:xfrm>
        </p:grpSpPr>
        <p:pic>
          <p:nvPicPr>
            <p:cNvPr id="97" name="Google Shape;97;p16"/>
            <p:cNvPicPr preferRelativeResize="0"/>
            <p:nvPr/>
          </p:nvPicPr>
          <p:blipFill>
            <a:blip r:embed="rId3">
              <a:alphaModFix/>
            </a:blip>
            <a:stretch>
              <a:fillRect/>
            </a:stretch>
          </p:blipFill>
          <p:spPr>
            <a:xfrm>
              <a:off x="391625" y="1923300"/>
              <a:ext cx="3981450" cy="1381125"/>
            </a:xfrm>
            <a:prstGeom prst="rect">
              <a:avLst/>
            </a:prstGeom>
            <a:noFill/>
            <a:ln>
              <a:noFill/>
            </a:ln>
          </p:spPr>
        </p:pic>
        <p:pic>
          <p:nvPicPr>
            <p:cNvPr id="98" name="Google Shape;98;p16"/>
            <p:cNvPicPr preferRelativeResize="0"/>
            <p:nvPr/>
          </p:nvPicPr>
          <p:blipFill>
            <a:blip r:embed="rId4">
              <a:alphaModFix/>
            </a:blip>
            <a:stretch>
              <a:fillRect/>
            </a:stretch>
          </p:blipFill>
          <p:spPr>
            <a:xfrm>
              <a:off x="4525475" y="1966800"/>
              <a:ext cx="3626286" cy="1347900"/>
            </a:xfrm>
            <a:prstGeom prst="rect">
              <a:avLst/>
            </a:prstGeom>
            <a:noFill/>
            <a:ln>
              <a:noFill/>
            </a:ln>
          </p:spPr>
        </p:pic>
        <p:pic>
          <p:nvPicPr>
            <p:cNvPr id="99" name="Google Shape;99;p16"/>
            <p:cNvPicPr preferRelativeResize="0"/>
            <p:nvPr/>
          </p:nvPicPr>
          <p:blipFill>
            <a:blip r:embed="rId5">
              <a:alphaModFix/>
            </a:blip>
            <a:stretch>
              <a:fillRect/>
            </a:stretch>
          </p:blipFill>
          <p:spPr>
            <a:xfrm>
              <a:off x="381000" y="3467100"/>
              <a:ext cx="7743825" cy="495300"/>
            </a:xfrm>
            <a:prstGeom prst="rect">
              <a:avLst/>
            </a:prstGeom>
            <a:noFill/>
            <a:ln>
              <a:noFill/>
            </a:ln>
          </p:spPr>
        </p:pic>
        <p:pic>
          <p:nvPicPr>
            <p:cNvPr id="100" name="Google Shape;100;p16"/>
            <p:cNvPicPr preferRelativeResize="0"/>
            <p:nvPr/>
          </p:nvPicPr>
          <p:blipFill>
            <a:blip r:embed="rId6">
              <a:alphaModFix/>
            </a:blip>
            <a:stretch>
              <a:fillRect/>
            </a:stretch>
          </p:blipFill>
          <p:spPr>
            <a:xfrm>
              <a:off x="380988" y="4038600"/>
              <a:ext cx="7629525" cy="1866900"/>
            </a:xfrm>
            <a:prstGeom prst="rect">
              <a:avLst/>
            </a:prstGeom>
            <a:noFill/>
            <a:ln>
              <a:noFill/>
            </a:ln>
          </p:spPr>
        </p:pic>
      </p:grpSp>
      <p:pic>
        <p:nvPicPr>
          <p:cNvPr id="101" name="Google Shape;101;p16"/>
          <p:cNvPicPr preferRelativeResize="0"/>
          <p:nvPr/>
        </p:nvPicPr>
        <p:blipFill>
          <a:blip r:embed="rId7">
            <a:alphaModFix/>
          </a:blip>
          <a:stretch>
            <a:fillRect/>
          </a:stretch>
        </p:blipFill>
        <p:spPr>
          <a:xfrm>
            <a:off x="6967775" y="528875"/>
            <a:ext cx="1840351" cy="393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388620" lvl="0" marL="457200" rtl="0" algn="l">
              <a:spcBef>
                <a:spcPts val="0"/>
              </a:spcBef>
              <a:spcAft>
                <a:spcPts val="0"/>
              </a:spcAft>
              <a:buSzPct val="100000"/>
              <a:buAutoNum type="arabicPeriod"/>
            </a:pPr>
            <a:r>
              <a:rPr b="1" lang="en"/>
              <a:t>Introduction</a:t>
            </a:r>
            <a:endParaRPr b="1"/>
          </a:p>
        </p:txBody>
      </p:sp>
      <p:sp>
        <p:nvSpPr>
          <p:cNvPr id="107" name="Google Shape;107;p17"/>
          <p:cNvSpPr txBox="1"/>
          <p:nvPr>
            <p:ph idx="1" type="body"/>
          </p:nvPr>
        </p:nvSpPr>
        <p:spPr>
          <a:xfrm>
            <a:off x="311700" y="1152475"/>
            <a:ext cx="8035500" cy="4773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Clr>
                <a:schemeClr val="dk1"/>
              </a:buClr>
              <a:buSzPts val="1100"/>
              <a:buFont typeface="Arial"/>
              <a:buNone/>
            </a:pPr>
            <a:r>
              <a:rPr lang="en"/>
              <a:t>So, does introducing effective ‘Public Transportation’ leads to a decrease in </a:t>
            </a:r>
            <a:br>
              <a:rPr lang="en"/>
            </a:br>
            <a:r>
              <a:rPr lang="en"/>
              <a:t>generating Air Pollution materials?</a:t>
            </a:r>
            <a:endParaRPr/>
          </a:p>
        </p:txBody>
      </p:sp>
      <p:sp>
        <p:nvSpPr>
          <p:cNvPr id="108" name="Google Shape;108;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t>3</a:t>
            </a:r>
            <a:endParaRPr/>
          </a:p>
        </p:txBody>
      </p:sp>
      <p:cxnSp>
        <p:nvCxnSpPr>
          <p:cNvPr id="109" name="Google Shape;109;p17"/>
          <p:cNvCxnSpPr/>
          <p:nvPr/>
        </p:nvCxnSpPr>
        <p:spPr>
          <a:xfrm flipH="1" rot="10800000">
            <a:off x="317525" y="993975"/>
            <a:ext cx="8307900" cy="10800"/>
          </a:xfrm>
          <a:prstGeom prst="straightConnector1">
            <a:avLst/>
          </a:prstGeom>
          <a:noFill/>
          <a:ln cap="flat" cmpd="sng" w="9525">
            <a:solidFill>
              <a:schemeClr val="dk2"/>
            </a:solidFill>
            <a:prstDash val="solid"/>
            <a:round/>
            <a:headEnd len="med" w="med" type="none"/>
            <a:tailEnd len="med" w="med" type="none"/>
          </a:ln>
        </p:spPr>
      </p:cxnSp>
      <p:graphicFrame>
        <p:nvGraphicFramePr>
          <p:cNvPr id="110" name="Google Shape;110;p17"/>
          <p:cNvGraphicFramePr/>
          <p:nvPr/>
        </p:nvGraphicFramePr>
        <p:xfrm>
          <a:off x="311700" y="1897625"/>
          <a:ext cx="3000000" cy="3000000"/>
        </p:xfrm>
        <a:graphic>
          <a:graphicData uri="http://schemas.openxmlformats.org/drawingml/2006/table">
            <a:tbl>
              <a:tblPr>
                <a:noFill/>
                <a:tableStyleId>{6D8A5EF0-F0EF-4A25-B9BD-B20571C9AC95}</a:tableStyleId>
              </a:tblPr>
              <a:tblGrid>
                <a:gridCol w="1790950"/>
                <a:gridCol w="6451675"/>
              </a:tblGrid>
              <a:tr h="887050">
                <a:tc>
                  <a:txBody>
                    <a:bodyPr/>
                    <a:lstStyle/>
                    <a:p>
                      <a:pPr indent="0" lvl="0" marL="0" rtl="0" algn="ctr">
                        <a:lnSpc>
                          <a:spcPct val="115000"/>
                        </a:lnSpc>
                        <a:spcBef>
                          <a:spcPts val="0"/>
                        </a:spcBef>
                        <a:spcAft>
                          <a:spcPts val="0"/>
                        </a:spcAft>
                        <a:buNone/>
                      </a:pPr>
                      <a:r>
                        <a:t/>
                      </a:r>
                      <a:endParaRPr b="1" sz="600">
                        <a:solidFill>
                          <a:schemeClr val="dk1"/>
                        </a:solidFill>
                      </a:endParaRPr>
                    </a:p>
                    <a:p>
                      <a:pPr indent="0" lvl="0" marL="0" rtl="0" algn="ctr">
                        <a:lnSpc>
                          <a:spcPct val="115000"/>
                        </a:lnSpc>
                        <a:spcBef>
                          <a:spcPts val="0"/>
                        </a:spcBef>
                        <a:spcAft>
                          <a:spcPts val="0"/>
                        </a:spcAft>
                        <a:buNone/>
                      </a:pPr>
                      <a:r>
                        <a:t/>
                      </a:r>
                      <a:endParaRPr b="1" sz="600">
                        <a:solidFill>
                          <a:schemeClr val="dk1"/>
                        </a:solidFill>
                      </a:endParaRPr>
                    </a:p>
                    <a:p>
                      <a:pPr indent="0" lvl="0" marL="0" rtl="0" algn="ctr">
                        <a:lnSpc>
                          <a:spcPct val="115000"/>
                        </a:lnSpc>
                        <a:spcBef>
                          <a:spcPts val="0"/>
                        </a:spcBef>
                        <a:spcAft>
                          <a:spcPts val="0"/>
                        </a:spcAft>
                        <a:buNone/>
                      </a:pPr>
                      <a:r>
                        <a:rPr b="1" lang="en" sz="1600">
                          <a:solidFill>
                            <a:schemeClr val="dk1"/>
                          </a:solidFill>
                        </a:rPr>
                        <a:t>Mohring</a:t>
                      </a:r>
                      <a:endParaRPr b="1" sz="1600">
                        <a:solidFill>
                          <a:schemeClr val="dk1"/>
                        </a:solidFill>
                      </a:endParaRPr>
                    </a:p>
                    <a:p>
                      <a:pPr indent="0" lvl="0" marL="0" rtl="0" algn="ctr">
                        <a:lnSpc>
                          <a:spcPct val="115000"/>
                        </a:lnSpc>
                        <a:spcBef>
                          <a:spcPts val="0"/>
                        </a:spcBef>
                        <a:spcAft>
                          <a:spcPts val="0"/>
                        </a:spcAft>
                        <a:buNone/>
                      </a:pPr>
                      <a:r>
                        <a:rPr b="1" lang="en" sz="1600">
                          <a:solidFill>
                            <a:schemeClr val="dk1"/>
                          </a:solidFill>
                        </a:rPr>
                        <a:t>(1972)</a:t>
                      </a:r>
                      <a:endParaRPr sz="1200"/>
                    </a:p>
                  </a:txBody>
                  <a:tcPr marT="91425" marB="91425" marR="91425" marL="91425"/>
                </a:tc>
                <a:tc>
                  <a:txBody>
                    <a:bodyPr/>
                    <a:lstStyle/>
                    <a:p>
                      <a:pPr indent="-317500" lvl="0" marL="457200" rtl="0" algn="l">
                        <a:lnSpc>
                          <a:spcPct val="115000"/>
                        </a:lnSpc>
                        <a:spcBef>
                          <a:spcPts val="0"/>
                        </a:spcBef>
                        <a:spcAft>
                          <a:spcPts val="0"/>
                        </a:spcAft>
                        <a:buClr>
                          <a:schemeClr val="dk1"/>
                        </a:buClr>
                        <a:buSzPts val="1400"/>
                        <a:buChar char="-"/>
                      </a:pPr>
                      <a:r>
                        <a:rPr lang="en">
                          <a:solidFill>
                            <a:schemeClr val="dk1"/>
                          </a:solidFill>
                        </a:rPr>
                        <a:t>Ridership increases engender higher service frequencies, reduce the average waiting times at stops</a:t>
                      </a:r>
                      <a:endParaRPr>
                        <a:solidFill>
                          <a:schemeClr val="dk1"/>
                        </a:solidFill>
                      </a:endParaRPr>
                    </a:p>
                    <a:p>
                      <a:pPr indent="0" lvl="0" marL="0" rtl="0" algn="l">
                        <a:lnSpc>
                          <a:spcPct val="115000"/>
                        </a:lnSpc>
                        <a:spcBef>
                          <a:spcPts val="0"/>
                        </a:spcBef>
                        <a:spcAft>
                          <a:spcPts val="0"/>
                        </a:spcAft>
                        <a:buNone/>
                      </a:pPr>
                      <a:r>
                        <a:t/>
                      </a:r>
                      <a:endParaRPr sz="400">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Investment in rail infrastructure divert marginal automobile   travelers away from their vehicles</a:t>
                      </a:r>
                      <a:endParaRPr sz="1000"/>
                    </a:p>
                  </a:txBody>
                  <a:tcPr marT="91425" marB="91425" marR="91425" marL="91425"/>
                </a:tc>
              </a:tr>
              <a:tr h="887050">
                <a:tc>
                  <a:txBody>
                    <a:bodyPr/>
                    <a:lstStyle/>
                    <a:p>
                      <a:pPr indent="0" lvl="0" marL="0" rtl="0" algn="ctr">
                        <a:lnSpc>
                          <a:spcPct val="115000"/>
                        </a:lnSpc>
                        <a:spcBef>
                          <a:spcPts val="0"/>
                        </a:spcBef>
                        <a:spcAft>
                          <a:spcPts val="0"/>
                        </a:spcAft>
                        <a:buNone/>
                      </a:pPr>
                      <a:r>
                        <a:t/>
                      </a:r>
                      <a:endParaRPr b="1" sz="600">
                        <a:solidFill>
                          <a:schemeClr val="dk1"/>
                        </a:solidFill>
                      </a:endParaRPr>
                    </a:p>
                    <a:p>
                      <a:pPr indent="0" lvl="0" marL="0" rtl="0" algn="ctr">
                        <a:lnSpc>
                          <a:spcPct val="115000"/>
                        </a:lnSpc>
                        <a:spcBef>
                          <a:spcPts val="0"/>
                        </a:spcBef>
                        <a:spcAft>
                          <a:spcPts val="0"/>
                        </a:spcAft>
                        <a:buNone/>
                      </a:pPr>
                      <a:r>
                        <a:t/>
                      </a:r>
                      <a:endParaRPr b="1" sz="600">
                        <a:solidFill>
                          <a:schemeClr val="dk1"/>
                        </a:solidFill>
                      </a:endParaRPr>
                    </a:p>
                    <a:p>
                      <a:pPr indent="0" lvl="0" marL="0" rtl="0" algn="ctr">
                        <a:lnSpc>
                          <a:spcPct val="115000"/>
                        </a:lnSpc>
                        <a:spcBef>
                          <a:spcPts val="0"/>
                        </a:spcBef>
                        <a:spcAft>
                          <a:spcPts val="0"/>
                        </a:spcAft>
                        <a:buNone/>
                      </a:pPr>
                      <a:r>
                        <a:rPr b="1" lang="en" sz="1600">
                          <a:solidFill>
                            <a:schemeClr val="dk1"/>
                          </a:solidFill>
                        </a:rPr>
                        <a:t>Vickrey</a:t>
                      </a:r>
                      <a:endParaRPr b="1" sz="1600">
                        <a:solidFill>
                          <a:schemeClr val="dk1"/>
                        </a:solidFill>
                      </a:endParaRPr>
                    </a:p>
                    <a:p>
                      <a:pPr indent="0" lvl="0" marL="0" rtl="0" algn="ctr">
                        <a:lnSpc>
                          <a:spcPct val="115000"/>
                        </a:lnSpc>
                        <a:spcBef>
                          <a:spcPts val="0"/>
                        </a:spcBef>
                        <a:spcAft>
                          <a:spcPts val="0"/>
                        </a:spcAft>
                        <a:buNone/>
                      </a:pPr>
                      <a:r>
                        <a:rPr b="1" lang="en" sz="1600">
                          <a:solidFill>
                            <a:schemeClr val="dk1"/>
                          </a:solidFill>
                        </a:rPr>
                        <a:t>(1969)</a:t>
                      </a:r>
                      <a:endParaRPr sz="1200"/>
                    </a:p>
                  </a:txBody>
                  <a:tcPr marT="91425" marB="91425" marR="91425" marL="91425"/>
                </a:tc>
                <a:tc>
                  <a:txBody>
                    <a:bodyPr/>
                    <a:lstStyle/>
                    <a:p>
                      <a:pPr indent="-317500" lvl="0" marL="457200" rtl="0" algn="l">
                        <a:lnSpc>
                          <a:spcPct val="115000"/>
                        </a:lnSpc>
                        <a:spcBef>
                          <a:spcPts val="0"/>
                        </a:spcBef>
                        <a:spcAft>
                          <a:spcPts val="0"/>
                        </a:spcAft>
                        <a:buClr>
                          <a:schemeClr val="dk1"/>
                        </a:buClr>
                        <a:buSzPts val="1400"/>
                        <a:buChar char="-"/>
                      </a:pPr>
                      <a:r>
                        <a:rPr lang="en">
                          <a:solidFill>
                            <a:schemeClr val="dk1"/>
                          </a:solidFill>
                        </a:rPr>
                        <a:t>Investment in rail infrastructure simply increase demand for travel (Traffic Creation Effect)</a:t>
                      </a:r>
                      <a:endParaRPr>
                        <a:solidFill>
                          <a:schemeClr val="dk1"/>
                        </a:solidFill>
                      </a:endParaRPr>
                    </a:p>
                    <a:p>
                      <a:pPr indent="0" lvl="0" marL="0" rtl="0" algn="l">
                        <a:lnSpc>
                          <a:spcPct val="115000"/>
                        </a:lnSpc>
                        <a:spcBef>
                          <a:spcPts val="0"/>
                        </a:spcBef>
                        <a:spcAft>
                          <a:spcPts val="0"/>
                        </a:spcAft>
                        <a:buNone/>
                      </a:pPr>
                      <a:r>
                        <a:t/>
                      </a:r>
                      <a:endParaRPr sz="400">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Diverting travelers away from automobile travel as well as inducing more travel ⇒ Unclear Effect!</a:t>
                      </a:r>
                      <a:endParaRPr sz="1000"/>
                    </a:p>
                  </a:txBody>
                  <a:tcPr marT="91425" marB="91425" marR="91425" marL="91425"/>
                </a:tc>
              </a:tr>
            </a:tbl>
          </a:graphicData>
        </a:graphic>
      </p:graphicFrame>
      <p:sp>
        <p:nvSpPr>
          <p:cNvPr id="111" name="Google Shape;111;p17"/>
          <p:cNvSpPr txBox="1"/>
          <p:nvPr>
            <p:ph idx="1" type="body"/>
          </p:nvPr>
        </p:nvSpPr>
        <p:spPr>
          <a:xfrm>
            <a:off x="269675" y="4353650"/>
            <a:ext cx="8520600" cy="47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Based on Chen &amp; Walley (2015), we will further discuss the effects of transportation infrastructure on air quality.</a:t>
            </a:r>
            <a:endParaRPr/>
          </a:p>
          <a:p>
            <a:pPr indent="0" lvl="0" marL="0" rtl="0" algn="l">
              <a:spcBef>
                <a:spcPts val="1200"/>
              </a:spcBef>
              <a:spcAft>
                <a:spcPts val="1200"/>
              </a:spcAft>
              <a:buNone/>
            </a:pPr>
            <a:r>
              <a:t/>
            </a:r>
            <a:endParaRPr/>
          </a:p>
        </p:txBody>
      </p:sp>
      <p:pic>
        <p:nvPicPr>
          <p:cNvPr id="112" name="Google Shape;112;p17"/>
          <p:cNvPicPr preferRelativeResize="0"/>
          <p:nvPr/>
        </p:nvPicPr>
        <p:blipFill>
          <a:blip r:embed="rId3">
            <a:alphaModFix/>
          </a:blip>
          <a:stretch>
            <a:fillRect/>
          </a:stretch>
        </p:blipFill>
        <p:spPr>
          <a:xfrm>
            <a:off x="6785075" y="452675"/>
            <a:ext cx="1840351" cy="393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8"/>
          <p:cNvSpPr txBox="1"/>
          <p:nvPr>
            <p:ph type="title"/>
          </p:nvPr>
        </p:nvSpPr>
        <p:spPr>
          <a:xfrm>
            <a:off x="311700" y="2462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2. Study of Interest </a:t>
            </a:r>
            <a:endParaRPr b="1"/>
          </a:p>
        </p:txBody>
      </p:sp>
      <p:sp>
        <p:nvSpPr>
          <p:cNvPr id="118" name="Google Shape;118;p18"/>
          <p:cNvSpPr txBox="1"/>
          <p:nvPr>
            <p:ph idx="1" type="body"/>
          </p:nvPr>
        </p:nvSpPr>
        <p:spPr>
          <a:xfrm>
            <a:off x="311700" y="818950"/>
            <a:ext cx="8520600" cy="722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1200"/>
              </a:spcAft>
              <a:buNone/>
            </a:pPr>
            <a:r>
              <a:rPr lang="en"/>
              <a:t>Chen and Walley (2012): “Green Infrastructure: The Effects of Urban Rail Transit on Air Quality”</a:t>
            </a:r>
            <a:endParaRPr/>
          </a:p>
        </p:txBody>
      </p:sp>
      <p:sp>
        <p:nvSpPr>
          <p:cNvPr id="119" name="Google Shape;119;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t>2</a:t>
            </a:r>
            <a:endParaRPr/>
          </a:p>
        </p:txBody>
      </p:sp>
      <p:sp>
        <p:nvSpPr>
          <p:cNvPr id="120" name="Google Shape;120;p18"/>
          <p:cNvSpPr/>
          <p:nvPr/>
        </p:nvSpPr>
        <p:spPr>
          <a:xfrm>
            <a:off x="608613" y="1541350"/>
            <a:ext cx="3708300" cy="30702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2000"/>
              <a:t>Research Question</a:t>
            </a:r>
            <a:endParaRPr sz="2000"/>
          </a:p>
          <a:p>
            <a:pPr indent="-355600" lvl="0" marL="457200" rtl="0" algn="l">
              <a:spcBef>
                <a:spcPts val="0"/>
              </a:spcBef>
              <a:spcAft>
                <a:spcPts val="0"/>
              </a:spcAft>
              <a:buSzPts val="2000"/>
              <a:buChar char="●"/>
            </a:pPr>
            <a:r>
              <a:rPr lang="en" sz="2000"/>
              <a:t>How does the development of rail transit </a:t>
            </a:r>
            <a:r>
              <a:rPr i="1" lang="en" sz="2000"/>
              <a:t>infrastructure</a:t>
            </a:r>
            <a:r>
              <a:rPr lang="en" sz="2000"/>
              <a:t> impact pollution levels in Taipei, Taiwan? </a:t>
            </a:r>
            <a:endParaRPr sz="2000"/>
          </a:p>
          <a:p>
            <a:pPr indent="-355600" lvl="0" marL="457200" rtl="0" algn="l">
              <a:spcBef>
                <a:spcPts val="0"/>
              </a:spcBef>
              <a:spcAft>
                <a:spcPts val="0"/>
              </a:spcAft>
              <a:buSzPts val="2000"/>
              <a:buChar char="●"/>
            </a:pPr>
            <a:r>
              <a:rPr lang="en" sz="2000"/>
              <a:t>Identification problem: how to isolate the impact of rail transit infrastructure </a:t>
            </a:r>
            <a:endParaRPr sz="2000"/>
          </a:p>
        </p:txBody>
      </p:sp>
      <p:sp>
        <p:nvSpPr>
          <p:cNvPr id="121" name="Google Shape;121;p18"/>
          <p:cNvSpPr/>
          <p:nvPr/>
        </p:nvSpPr>
        <p:spPr>
          <a:xfrm>
            <a:off x="4736038" y="1541350"/>
            <a:ext cx="3708300" cy="3070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2000"/>
              <a:t>Methods</a:t>
            </a:r>
            <a:endParaRPr sz="2000"/>
          </a:p>
          <a:p>
            <a:pPr indent="-342900" lvl="0" marL="457200" rtl="0" algn="l">
              <a:spcBef>
                <a:spcPts val="0"/>
              </a:spcBef>
              <a:spcAft>
                <a:spcPts val="0"/>
              </a:spcAft>
              <a:buSzPts val="1800"/>
              <a:buChar char="●"/>
            </a:pPr>
            <a:r>
              <a:rPr lang="en" sz="1800"/>
              <a:t>OLS (estimate relationship between transit ridership and pollution over time)</a:t>
            </a:r>
            <a:endParaRPr sz="1800"/>
          </a:p>
          <a:p>
            <a:pPr indent="-342900" lvl="0" marL="457200" rtl="0" algn="l">
              <a:spcBef>
                <a:spcPts val="0"/>
              </a:spcBef>
              <a:spcAft>
                <a:spcPts val="0"/>
              </a:spcAft>
              <a:buSzPts val="1800"/>
              <a:buChar char="●"/>
            </a:pPr>
            <a:r>
              <a:rPr lang="en" sz="1800"/>
              <a:t>Discontinuity-based (DB) OLS used to address bias issues </a:t>
            </a:r>
            <a:endParaRPr sz="1800"/>
          </a:p>
          <a:p>
            <a:pPr indent="-342900" lvl="1" marL="914400" rtl="0" algn="l">
              <a:spcBef>
                <a:spcPts val="0"/>
              </a:spcBef>
              <a:spcAft>
                <a:spcPts val="0"/>
              </a:spcAft>
              <a:buSzPts val="1800"/>
              <a:buChar char="○"/>
            </a:pPr>
            <a:r>
              <a:rPr lang="en" sz="1800"/>
              <a:t>Discontinuity: Opening of the Taipei Metro (March 1996)</a:t>
            </a:r>
            <a:endParaRPr sz="1800"/>
          </a:p>
        </p:txBody>
      </p:sp>
      <p:cxnSp>
        <p:nvCxnSpPr>
          <p:cNvPr id="122" name="Google Shape;122;p18"/>
          <p:cNvCxnSpPr/>
          <p:nvPr/>
        </p:nvCxnSpPr>
        <p:spPr>
          <a:xfrm flipH="1" rot="10800000">
            <a:off x="311700" y="818950"/>
            <a:ext cx="8307900" cy="10800"/>
          </a:xfrm>
          <a:prstGeom prst="straightConnector1">
            <a:avLst/>
          </a:prstGeom>
          <a:noFill/>
          <a:ln cap="flat" cmpd="sng" w="9525">
            <a:solidFill>
              <a:schemeClr val="dk2"/>
            </a:solidFill>
            <a:prstDash val="solid"/>
            <a:round/>
            <a:headEnd len="med" w="med" type="none"/>
            <a:tailEnd len="med" w="med" type="none"/>
          </a:ln>
        </p:spPr>
      </p:cxnSp>
      <p:pic>
        <p:nvPicPr>
          <p:cNvPr id="123" name="Google Shape;123;p18"/>
          <p:cNvPicPr preferRelativeResize="0"/>
          <p:nvPr/>
        </p:nvPicPr>
        <p:blipFill>
          <a:blip r:embed="rId3">
            <a:alphaModFix/>
          </a:blip>
          <a:stretch>
            <a:fillRect/>
          </a:stretch>
        </p:blipFill>
        <p:spPr>
          <a:xfrm>
            <a:off x="7110375" y="247300"/>
            <a:ext cx="1840351" cy="393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9"/>
          <p:cNvSpPr txBox="1"/>
          <p:nvPr>
            <p:ph type="title"/>
          </p:nvPr>
        </p:nvSpPr>
        <p:spPr>
          <a:xfrm>
            <a:off x="311700" y="2462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2. Study of Interest </a:t>
            </a:r>
            <a:endParaRPr b="1"/>
          </a:p>
        </p:txBody>
      </p:sp>
      <p:sp>
        <p:nvSpPr>
          <p:cNvPr id="129" name="Google Shape;129;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t>2</a:t>
            </a:r>
            <a:endParaRPr/>
          </a:p>
        </p:txBody>
      </p:sp>
      <p:sp>
        <p:nvSpPr>
          <p:cNvPr id="130" name="Google Shape;130;p19"/>
          <p:cNvSpPr txBox="1"/>
          <p:nvPr/>
        </p:nvSpPr>
        <p:spPr>
          <a:xfrm>
            <a:off x="4572000" y="1320475"/>
            <a:ext cx="3000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t/>
            </a:r>
            <a:endParaRPr sz="1800">
              <a:solidFill>
                <a:schemeClr val="dk2"/>
              </a:solidFill>
            </a:endParaRPr>
          </a:p>
        </p:txBody>
      </p:sp>
      <p:cxnSp>
        <p:nvCxnSpPr>
          <p:cNvPr id="131" name="Google Shape;131;p19"/>
          <p:cNvCxnSpPr/>
          <p:nvPr/>
        </p:nvCxnSpPr>
        <p:spPr>
          <a:xfrm flipH="1" rot="10800000">
            <a:off x="311700" y="808150"/>
            <a:ext cx="8307900" cy="10800"/>
          </a:xfrm>
          <a:prstGeom prst="straightConnector1">
            <a:avLst/>
          </a:prstGeom>
          <a:noFill/>
          <a:ln cap="flat" cmpd="sng" w="9525">
            <a:solidFill>
              <a:schemeClr val="dk2"/>
            </a:solidFill>
            <a:prstDash val="solid"/>
            <a:round/>
            <a:headEnd len="med" w="med" type="none"/>
            <a:tailEnd len="med" w="med" type="none"/>
          </a:ln>
        </p:spPr>
      </p:cxnSp>
      <p:grpSp>
        <p:nvGrpSpPr>
          <p:cNvPr id="132" name="Google Shape;132;p19"/>
          <p:cNvGrpSpPr/>
          <p:nvPr/>
        </p:nvGrpSpPr>
        <p:grpSpPr>
          <a:xfrm>
            <a:off x="311700" y="893650"/>
            <a:ext cx="6698700" cy="647700"/>
            <a:chOff x="311700" y="1524550"/>
            <a:chExt cx="6698700" cy="647700"/>
          </a:xfrm>
        </p:grpSpPr>
        <p:pic>
          <p:nvPicPr>
            <p:cNvPr id="133" name="Google Shape;133;p19"/>
            <p:cNvPicPr preferRelativeResize="0"/>
            <p:nvPr/>
          </p:nvPicPr>
          <p:blipFill>
            <a:blip r:embed="rId3">
              <a:alphaModFix/>
            </a:blip>
            <a:stretch>
              <a:fillRect/>
            </a:stretch>
          </p:blipFill>
          <p:spPr>
            <a:xfrm>
              <a:off x="2133600" y="1524550"/>
              <a:ext cx="4876800" cy="647700"/>
            </a:xfrm>
            <a:prstGeom prst="rect">
              <a:avLst/>
            </a:prstGeom>
            <a:noFill/>
            <a:ln>
              <a:noFill/>
            </a:ln>
          </p:spPr>
        </p:pic>
        <p:sp>
          <p:nvSpPr>
            <p:cNvPr id="134" name="Google Shape;134;p19"/>
            <p:cNvSpPr txBox="1"/>
            <p:nvPr/>
          </p:nvSpPr>
          <p:spPr>
            <a:xfrm>
              <a:off x="311700" y="1541350"/>
              <a:ext cx="6681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800">
                  <a:solidFill>
                    <a:srgbClr val="FF0000"/>
                  </a:solidFill>
                </a:rPr>
                <a:t>OLS</a:t>
              </a:r>
              <a:endParaRPr sz="1800">
                <a:solidFill>
                  <a:srgbClr val="FF0000"/>
                </a:solidFill>
              </a:endParaRPr>
            </a:p>
          </p:txBody>
        </p:sp>
        <p:sp>
          <p:nvSpPr>
            <p:cNvPr id="135" name="Google Shape;135;p19"/>
            <p:cNvSpPr/>
            <p:nvPr/>
          </p:nvSpPr>
          <p:spPr>
            <a:xfrm>
              <a:off x="3443800" y="1609600"/>
              <a:ext cx="292500" cy="393600"/>
            </a:xfrm>
            <a:prstGeom prst="rect">
              <a:avLst/>
            </a:prstGeom>
            <a:no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36" name="Google Shape;136;p19"/>
          <p:cNvGrpSpPr/>
          <p:nvPr/>
        </p:nvGrpSpPr>
        <p:grpSpPr>
          <a:xfrm>
            <a:off x="311700" y="1465150"/>
            <a:ext cx="8307900" cy="572700"/>
            <a:chOff x="311700" y="1999425"/>
            <a:chExt cx="8307900" cy="572700"/>
          </a:xfrm>
        </p:grpSpPr>
        <p:pic>
          <p:nvPicPr>
            <p:cNvPr id="137" name="Google Shape;137;p19"/>
            <p:cNvPicPr preferRelativeResize="0"/>
            <p:nvPr/>
          </p:nvPicPr>
          <p:blipFill rotWithShape="1">
            <a:blip r:embed="rId4">
              <a:alphaModFix/>
            </a:blip>
            <a:srcRect b="0" l="1136" r="0" t="0"/>
            <a:stretch/>
          </p:blipFill>
          <p:spPr>
            <a:xfrm>
              <a:off x="1722100" y="1999425"/>
              <a:ext cx="6897500" cy="572700"/>
            </a:xfrm>
            <a:prstGeom prst="rect">
              <a:avLst/>
            </a:prstGeom>
            <a:noFill/>
            <a:ln>
              <a:noFill/>
            </a:ln>
          </p:spPr>
        </p:pic>
        <p:sp>
          <p:nvSpPr>
            <p:cNvPr id="138" name="Google Shape;138;p19"/>
            <p:cNvSpPr txBox="1"/>
            <p:nvPr/>
          </p:nvSpPr>
          <p:spPr>
            <a:xfrm>
              <a:off x="311700" y="2054938"/>
              <a:ext cx="11430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800">
                  <a:solidFill>
                    <a:srgbClr val="FF0000"/>
                  </a:solidFill>
                </a:rPr>
                <a:t>DB OLS</a:t>
              </a:r>
              <a:endParaRPr sz="1800">
                <a:solidFill>
                  <a:srgbClr val="FF0000"/>
                </a:solidFill>
              </a:endParaRPr>
            </a:p>
          </p:txBody>
        </p:sp>
        <p:sp>
          <p:nvSpPr>
            <p:cNvPr id="139" name="Google Shape;139;p19"/>
            <p:cNvSpPr/>
            <p:nvPr/>
          </p:nvSpPr>
          <p:spPr>
            <a:xfrm>
              <a:off x="2692938" y="2053563"/>
              <a:ext cx="254100" cy="393600"/>
            </a:xfrm>
            <a:prstGeom prst="rect">
              <a:avLst/>
            </a:prstGeom>
            <a:no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40" name="Google Shape;140;p19"/>
          <p:cNvSpPr txBox="1"/>
          <p:nvPr/>
        </p:nvSpPr>
        <p:spPr>
          <a:xfrm>
            <a:off x="205350" y="3037900"/>
            <a:ext cx="8520600" cy="17361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2"/>
              </a:buClr>
              <a:buSzPts val="1800"/>
              <a:buChar char="●"/>
            </a:pPr>
            <a:r>
              <a:rPr lang="en" sz="1800">
                <a:solidFill>
                  <a:schemeClr val="dk2"/>
                </a:solidFill>
              </a:rPr>
              <a:t>The dependent variable (all models) is the log of air pollution (i.e. measurement of carbon monoxide, nitrogen oxides, and ground-level ozone) </a:t>
            </a:r>
            <a:endParaRPr sz="1800">
              <a:solidFill>
                <a:schemeClr val="dk2"/>
              </a:solidFill>
            </a:endParaRPr>
          </a:p>
          <a:p>
            <a:pPr indent="-342900" lvl="0" marL="457200" rtl="0" algn="l">
              <a:lnSpc>
                <a:spcPct val="115000"/>
              </a:lnSpc>
              <a:spcBef>
                <a:spcPts val="0"/>
              </a:spcBef>
              <a:spcAft>
                <a:spcPts val="0"/>
              </a:spcAft>
              <a:buClr>
                <a:schemeClr val="dk2"/>
              </a:buClr>
              <a:buSzPts val="1800"/>
              <a:buChar char="●"/>
            </a:pPr>
            <a:r>
              <a:rPr lang="en" sz="1800">
                <a:solidFill>
                  <a:schemeClr val="dk2"/>
                </a:solidFill>
              </a:rPr>
              <a:t>The authors estimated the DB-OLS using a 2 year and 1 month window for air pollution (informative about expected pollution)</a:t>
            </a:r>
            <a:endParaRPr sz="1800">
              <a:solidFill>
                <a:schemeClr val="dk2"/>
              </a:solidFill>
            </a:endParaRPr>
          </a:p>
          <a:p>
            <a:pPr indent="-342900" lvl="0" marL="457200" rtl="0" algn="l">
              <a:lnSpc>
                <a:spcPct val="115000"/>
              </a:lnSpc>
              <a:spcBef>
                <a:spcPts val="0"/>
              </a:spcBef>
              <a:spcAft>
                <a:spcPts val="0"/>
              </a:spcAft>
              <a:buClr>
                <a:schemeClr val="dk2"/>
              </a:buClr>
              <a:buSzPts val="1800"/>
              <a:buChar char="●"/>
            </a:pPr>
            <a:r>
              <a:rPr lang="en" sz="1800">
                <a:solidFill>
                  <a:schemeClr val="dk2"/>
                </a:solidFill>
              </a:rPr>
              <a:t>The parameters outlined in pink are of interest </a:t>
            </a:r>
            <a:endParaRPr sz="1800">
              <a:solidFill>
                <a:schemeClr val="dk2"/>
              </a:solidFill>
            </a:endParaRPr>
          </a:p>
        </p:txBody>
      </p:sp>
      <p:sp>
        <p:nvSpPr>
          <p:cNvPr id="141" name="Google Shape;141;p19"/>
          <p:cNvSpPr txBox="1"/>
          <p:nvPr/>
        </p:nvSpPr>
        <p:spPr>
          <a:xfrm>
            <a:off x="311700" y="2063850"/>
            <a:ext cx="2716200" cy="7389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800">
                <a:solidFill>
                  <a:srgbClr val="FF0000"/>
                </a:solidFill>
              </a:rPr>
              <a:t>DB OLS with </a:t>
            </a:r>
            <a:endParaRPr sz="1800">
              <a:solidFill>
                <a:srgbClr val="FF0000"/>
              </a:solidFill>
            </a:endParaRPr>
          </a:p>
          <a:p>
            <a:pPr indent="0" lvl="0" marL="0" rtl="0" algn="l">
              <a:lnSpc>
                <a:spcPct val="100000"/>
              </a:lnSpc>
              <a:spcBef>
                <a:spcPts val="0"/>
              </a:spcBef>
              <a:spcAft>
                <a:spcPts val="0"/>
              </a:spcAft>
              <a:buNone/>
            </a:pPr>
            <a:r>
              <a:rPr lang="en" sz="1800">
                <a:solidFill>
                  <a:srgbClr val="FF0000"/>
                </a:solidFill>
              </a:rPr>
              <a:t>heterogeneous effects</a:t>
            </a:r>
            <a:endParaRPr/>
          </a:p>
        </p:txBody>
      </p:sp>
      <p:pic>
        <p:nvPicPr>
          <p:cNvPr id="142" name="Google Shape;142;p19"/>
          <p:cNvPicPr preferRelativeResize="0"/>
          <p:nvPr/>
        </p:nvPicPr>
        <p:blipFill>
          <a:blip r:embed="rId5">
            <a:alphaModFix/>
          </a:blip>
          <a:stretch>
            <a:fillRect/>
          </a:stretch>
        </p:blipFill>
        <p:spPr>
          <a:xfrm>
            <a:off x="2702675" y="2051895"/>
            <a:ext cx="6288925" cy="862855"/>
          </a:xfrm>
          <a:prstGeom prst="rect">
            <a:avLst/>
          </a:prstGeom>
          <a:noFill/>
          <a:ln>
            <a:noFill/>
          </a:ln>
        </p:spPr>
      </p:pic>
      <p:sp>
        <p:nvSpPr>
          <p:cNvPr id="143" name="Google Shape;143;p19"/>
          <p:cNvSpPr/>
          <p:nvPr/>
        </p:nvSpPr>
        <p:spPr>
          <a:xfrm>
            <a:off x="3839263" y="2030688"/>
            <a:ext cx="254100" cy="393600"/>
          </a:xfrm>
          <a:prstGeom prst="rect">
            <a:avLst/>
          </a:prstGeom>
          <a:no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 name="Google Shape;144;p19"/>
          <p:cNvSpPr/>
          <p:nvPr/>
        </p:nvSpPr>
        <p:spPr>
          <a:xfrm>
            <a:off x="6448838" y="2030688"/>
            <a:ext cx="254100" cy="393600"/>
          </a:xfrm>
          <a:prstGeom prst="rect">
            <a:avLst/>
          </a:prstGeom>
          <a:no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5" name="Google Shape;145;p19"/>
          <p:cNvPicPr preferRelativeResize="0"/>
          <p:nvPr/>
        </p:nvPicPr>
        <p:blipFill>
          <a:blip r:embed="rId6">
            <a:alphaModFix/>
          </a:blip>
          <a:stretch>
            <a:fillRect/>
          </a:stretch>
        </p:blipFill>
        <p:spPr>
          <a:xfrm>
            <a:off x="7110375" y="247300"/>
            <a:ext cx="1840351" cy="3936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0"/>
          <p:cNvSpPr txBox="1"/>
          <p:nvPr>
            <p:ph type="title"/>
          </p:nvPr>
        </p:nvSpPr>
        <p:spPr>
          <a:xfrm>
            <a:off x="311700" y="2462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2. Study of Interest </a:t>
            </a:r>
            <a:endParaRPr b="1"/>
          </a:p>
        </p:txBody>
      </p:sp>
      <p:sp>
        <p:nvSpPr>
          <p:cNvPr id="151" name="Google Shape;151;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t>2</a:t>
            </a:r>
            <a:endParaRPr/>
          </a:p>
        </p:txBody>
      </p:sp>
      <p:sp>
        <p:nvSpPr>
          <p:cNvPr id="152" name="Google Shape;152;p20"/>
          <p:cNvSpPr txBox="1"/>
          <p:nvPr/>
        </p:nvSpPr>
        <p:spPr>
          <a:xfrm>
            <a:off x="471150" y="2700925"/>
            <a:ext cx="8201700" cy="7803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2"/>
              </a:buClr>
              <a:buSzPts val="1800"/>
              <a:buChar char="●"/>
            </a:pPr>
            <a:r>
              <a:rPr lang="en" sz="1800">
                <a:solidFill>
                  <a:schemeClr val="dk2"/>
                </a:solidFill>
              </a:rPr>
              <a:t>H</a:t>
            </a:r>
            <a:r>
              <a:rPr lang="en" sz="1800">
                <a:solidFill>
                  <a:schemeClr val="dk2"/>
                </a:solidFill>
              </a:rPr>
              <a:t>eterogeneous effects model: Commuters with cars did not alter their behavior significantly following the opening of the Metro </a:t>
            </a:r>
            <a:endParaRPr sz="1800">
              <a:solidFill>
                <a:schemeClr val="dk2"/>
              </a:solidFill>
            </a:endParaRPr>
          </a:p>
        </p:txBody>
      </p:sp>
      <p:cxnSp>
        <p:nvCxnSpPr>
          <p:cNvPr id="153" name="Google Shape;153;p20"/>
          <p:cNvCxnSpPr/>
          <p:nvPr/>
        </p:nvCxnSpPr>
        <p:spPr>
          <a:xfrm flipH="1" rot="10800000">
            <a:off x="311700" y="808150"/>
            <a:ext cx="8307900" cy="10800"/>
          </a:xfrm>
          <a:prstGeom prst="straightConnector1">
            <a:avLst/>
          </a:prstGeom>
          <a:noFill/>
          <a:ln cap="flat" cmpd="sng" w="9525">
            <a:solidFill>
              <a:schemeClr val="dk2"/>
            </a:solidFill>
            <a:prstDash val="solid"/>
            <a:round/>
            <a:headEnd len="med" w="med" type="none"/>
            <a:tailEnd len="med" w="med" type="none"/>
          </a:ln>
        </p:spPr>
      </p:cxnSp>
      <p:sp>
        <p:nvSpPr>
          <p:cNvPr id="154" name="Google Shape;154;p20"/>
          <p:cNvSpPr/>
          <p:nvPr/>
        </p:nvSpPr>
        <p:spPr>
          <a:xfrm>
            <a:off x="418050" y="3543100"/>
            <a:ext cx="8307900" cy="11967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t>Our study expands and replicates this work. We recreated the heterogeneous effect regression and will utilize modeling techniques learned in class to see how results differ when model type changes. </a:t>
            </a:r>
            <a:endParaRPr b="1" sz="1800"/>
          </a:p>
        </p:txBody>
      </p:sp>
      <p:sp>
        <p:nvSpPr>
          <p:cNvPr id="155" name="Google Shape;155;p20"/>
          <p:cNvSpPr txBox="1"/>
          <p:nvPr/>
        </p:nvSpPr>
        <p:spPr>
          <a:xfrm>
            <a:off x="471150" y="878413"/>
            <a:ext cx="8201700" cy="182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n" sz="1900">
                <a:solidFill>
                  <a:schemeClr val="dk2"/>
                </a:solidFill>
              </a:rPr>
              <a:t>Key Takeaway: </a:t>
            </a:r>
            <a:r>
              <a:rPr lang="en" sz="1900">
                <a:solidFill>
                  <a:schemeClr val="dk2"/>
                </a:solidFill>
              </a:rPr>
              <a:t>The opening of the metro rail led to a reduction in carbon monoxide ranging from </a:t>
            </a:r>
            <a:r>
              <a:rPr lang="en" sz="1900" u="sng">
                <a:solidFill>
                  <a:schemeClr val="dk2"/>
                </a:solidFill>
              </a:rPr>
              <a:t>5 to 15 percent</a:t>
            </a:r>
            <a:r>
              <a:rPr lang="en" sz="1900">
                <a:solidFill>
                  <a:schemeClr val="dk2"/>
                </a:solidFill>
              </a:rPr>
              <a:t>, </a:t>
            </a:r>
            <a:r>
              <a:rPr lang="en" sz="1900">
                <a:solidFill>
                  <a:schemeClr val="dk2"/>
                </a:solidFill>
              </a:rPr>
              <a:t>although</a:t>
            </a:r>
            <a:r>
              <a:rPr lang="en" sz="1900">
                <a:solidFill>
                  <a:schemeClr val="dk2"/>
                </a:solidFill>
              </a:rPr>
              <a:t> ozone wasn’t reduced significantly. These results suggest that new rail infrastructure can lead to air quality </a:t>
            </a:r>
            <a:r>
              <a:rPr lang="en" sz="1900">
                <a:solidFill>
                  <a:schemeClr val="dk2"/>
                </a:solidFill>
              </a:rPr>
              <a:t>improvements (and this benefit should be considered when thinking about development). </a:t>
            </a:r>
            <a:r>
              <a:rPr lang="en" sz="1900">
                <a:solidFill>
                  <a:schemeClr val="dk2"/>
                </a:solidFill>
              </a:rPr>
              <a:t> </a:t>
            </a:r>
            <a:endParaRPr sz="1900">
              <a:solidFill>
                <a:schemeClr val="dk2"/>
              </a:solidFill>
            </a:endParaRPr>
          </a:p>
        </p:txBody>
      </p:sp>
      <p:pic>
        <p:nvPicPr>
          <p:cNvPr id="156" name="Google Shape;156;p20"/>
          <p:cNvPicPr preferRelativeResize="0"/>
          <p:nvPr/>
        </p:nvPicPr>
        <p:blipFill>
          <a:blip r:embed="rId3">
            <a:alphaModFix/>
          </a:blip>
          <a:stretch>
            <a:fillRect/>
          </a:stretch>
        </p:blipFill>
        <p:spPr>
          <a:xfrm>
            <a:off x="7110375" y="247300"/>
            <a:ext cx="1840351" cy="393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1"/>
          <p:cNvSpPr txBox="1"/>
          <p:nvPr>
            <p:ph type="title"/>
          </p:nvPr>
        </p:nvSpPr>
        <p:spPr>
          <a:xfrm>
            <a:off x="311700" y="2462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3</a:t>
            </a:r>
            <a:r>
              <a:rPr b="1" lang="en"/>
              <a:t>. Data</a:t>
            </a:r>
            <a:endParaRPr b="1"/>
          </a:p>
        </p:txBody>
      </p:sp>
      <p:cxnSp>
        <p:nvCxnSpPr>
          <p:cNvPr id="162" name="Google Shape;162;p21"/>
          <p:cNvCxnSpPr/>
          <p:nvPr/>
        </p:nvCxnSpPr>
        <p:spPr>
          <a:xfrm flipH="1" rot="10800000">
            <a:off x="311700" y="808150"/>
            <a:ext cx="8307900" cy="10800"/>
          </a:xfrm>
          <a:prstGeom prst="straightConnector1">
            <a:avLst/>
          </a:prstGeom>
          <a:noFill/>
          <a:ln cap="flat" cmpd="sng" w="9525">
            <a:solidFill>
              <a:schemeClr val="dk2"/>
            </a:solidFill>
            <a:prstDash val="solid"/>
            <a:round/>
            <a:headEnd len="med" w="med" type="none"/>
            <a:tailEnd len="med" w="med" type="none"/>
          </a:ln>
        </p:spPr>
      </p:cxnSp>
      <p:sp>
        <p:nvSpPr>
          <p:cNvPr id="163" name="Google Shape;163;p21"/>
          <p:cNvSpPr txBox="1"/>
          <p:nvPr/>
        </p:nvSpPr>
        <p:spPr>
          <a:xfrm>
            <a:off x="471150" y="878425"/>
            <a:ext cx="8201700" cy="47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t/>
            </a:r>
            <a:endParaRPr sz="1900">
              <a:solidFill>
                <a:schemeClr val="dk2"/>
              </a:solidFill>
            </a:endParaRPr>
          </a:p>
        </p:txBody>
      </p:sp>
      <p:pic>
        <p:nvPicPr>
          <p:cNvPr id="164" name="Google Shape;164;p21"/>
          <p:cNvPicPr preferRelativeResize="0"/>
          <p:nvPr/>
        </p:nvPicPr>
        <p:blipFill>
          <a:blip r:embed="rId3">
            <a:alphaModFix/>
          </a:blip>
          <a:stretch>
            <a:fillRect/>
          </a:stretch>
        </p:blipFill>
        <p:spPr>
          <a:xfrm>
            <a:off x="7110375" y="247300"/>
            <a:ext cx="1840351" cy="393600"/>
          </a:xfrm>
          <a:prstGeom prst="rect">
            <a:avLst/>
          </a:prstGeom>
          <a:noFill/>
          <a:ln>
            <a:noFill/>
          </a:ln>
        </p:spPr>
      </p:pic>
      <p:pic>
        <p:nvPicPr>
          <p:cNvPr id="165" name="Google Shape;165;p21"/>
          <p:cNvPicPr preferRelativeResize="0"/>
          <p:nvPr/>
        </p:nvPicPr>
        <p:blipFill>
          <a:blip r:embed="rId4">
            <a:alphaModFix/>
          </a:blip>
          <a:stretch>
            <a:fillRect/>
          </a:stretch>
        </p:blipFill>
        <p:spPr>
          <a:xfrm>
            <a:off x="6033046" y="878425"/>
            <a:ext cx="2586550" cy="1692500"/>
          </a:xfrm>
          <a:prstGeom prst="rect">
            <a:avLst/>
          </a:prstGeom>
          <a:noFill/>
          <a:ln>
            <a:noFill/>
          </a:ln>
        </p:spPr>
      </p:pic>
      <p:sp>
        <p:nvSpPr>
          <p:cNvPr id="166" name="Google Shape;166;p21"/>
          <p:cNvSpPr txBox="1"/>
          <p:nvPr/>
        </p:nvSpPr>
        <p:spPr>
          <a:xfrm>
            <a:off x="6033025" y="2808450"/>
            <a:ext cx="2586600" cy="202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u="sng">
                <a:solidFill>
                  <a:schemeClr val="dk2"/>
                </a:solidFill>
              </a:rPr>
              <a:t>Data Sources</a:t>
            </a:r>
            <a:endParaRPr sz="1800" u="sng">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      Taipei Rapid Transit Company</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       Taiwanese EPA</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167" name="Google Shape;167;p21"/>
          <p:cNvSpPr txBox="1"/>
          <p:nvPr/>
        </p:nvSpPr>
        <p:spPr>
          <a:xfrm>
            <a:off x="4572000" y="878425"/>
            <a:ext cx="4260300" cy="4002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168" name="Google Shape;168;p21"/>
          <p:cNvPicPr preferRelativeResize="0"/>
          <p:nvPr/>
        </p:nvPicPr>
        <p:blipFill>
          <a:blip r:embed="rId5">
            <a:alphaModFix/>
          </a:blip>
          <a:stretch>
            <a:fillRect/>
          </a:stretch>
        </p:blipFill>
        <p:spPr>
          <a:xfrm>
            <a:off x="6033050" y="3332600"/>
            <a:ext cx="400200" cy="400200"/>
          </a:xfrm>
          <a:prstGeom prst="rect">
            <a:avLst/>
          </a:prstGeom>
          <a:noFill/>
          <a:ln>
            <a:noFill/>
          </a:ln>
        </p:spPr>
      </p:pic>
      <p:pic>
        <p:nvPicPr>
          <p:cNvPr id="169" name="Google Shape;169;p21"/>
          <p:cNvPicPr preferRelativeResize="0"/>
          <p:nvPr/>
        </p:nvPicPr>
        <p:blipFill>
          <a:blip r:embed="rId6">
            <a:alphaModFix/>
          </a:blip>
          <a:stretch>
            <a:fillRect/>
          </a:stretch>
        </p:blipFill>
        <p:spPr>
          <a:xfrm>
            <a:off x="6063775" y="4226900"/>
            <a:ext cx="338749" cy="338749"/>
          </a:xfrm>
          <a:prstGeom prst="rect">
            <a:avLst/>
          </a:prstGeom>
          <a:noFill/>
          <a:ln>
            <a:noFill/>
          </a:ln>
        </p:spPr>
      </p:pic>
      <p:sp>
        <p:nvSpPr>
          <p:cNvPr id="170" name="Google Shape;170;p21"/>
          <p:cNvSpPr txBox="1"/>
          <p:nvPr/>
        </p:nvSpPr>
        <p:spPr>
          <a:xfrm>
            <a:off x="342900" y="982975"/>
            <a:ext cx="5435700" cy="37083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n" sz="1800">
                <a:solidFill>
                  <a:schemeClr val="dk2"/>
                </a:solidFill>
              </a:rPr>
              <a:t>Hourly pollutants concentration measured across 16 monitoring stations</a:t>
            </a:r>
            <a:endParaRPr sz="1800">
              <a:solidFill>
                <a:schemeClr val="dk2"/>
              </a:solidFill>
            </a:endParaRPr>
          </a:p>
          <a:p>
            <a:pPr indent="-342900" lvl="1" marL="914400" rtl="0" algn="l">
              <a:spcBef>
                <a:spcPts val="0"/>
              </a:spcBef>
              <a:spcAft>
                <a:spcPts val="0"/>
              </a:spcAft>
              <a:buClr>
                <a:schemeClr val="dk2"/>
              </a:buClr>
              <a:buSzPts val="1800"/>
              <a:buChar char="-"/>
            </a:pPr>
            <a:r>
              <a:rPr lang="en" sz="1800">
                <a:solidFill>
                  <a:schemeClr val="dk2"/>
                </a:solidFill>
              </a:rPr>
              <a:t>CO, NOx, O3, PM10, SO2</a:t>
            </a:r>
            <a:endParaRPr sz="1800">
              <a:solidFill>
                <a:schemeClr val="dk2"/>
              </a:solidFill>
            </a:endParaRPr>
          </a:p>
          <a:p>
            <a:pPr indent="0" lvl="0" marL="91440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Hourly weather variables</a:t>
            </a:r>
            <a:endParaRPr sz="1800">
              <a:solidFill>
                <a:schemeClr val="dk2"/>
              </a:solidFill>
            </a:endParaRPr>
          </a:p>
          <a:p>
            <a:pPr indent="-342900" lvl="1" marL="914400" rtl="0" algn="l">
              <a:spcBef>
                <a:spcPts val="0"/>
              </a:spcBef>
              <a:spcAft>
                <a:spcPts val="0"/>
              </a:spcAft>
              <a:buClr>
                <a:schemeClr val="dk2"/>
              </a:buClr>
              <a:buSzPts val="1800"/>
              <a:buChar char="-"/>
            </a:pPr>
            <a:r>
              <a:rPr lang="en" sz="1800">
                <a:solidFill>
                  <a:schemeClr val="dk2"/>
                </a:solidFill>
              </a:rPr>
              <a:t>Temperature, wind speed, humidity</a:t>
            </a:r>
            <a:endParaRPr sz="1800">
              <a:solidFill>
                <a:schemeClr val="dk2"/>
              </a:solidFill>
            </a:endParaRPr>
          </a:p>
          <a:p>
            <a:pPr indent="0" lvl="0" marL="91440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Daily metro ridership</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Gas regulations</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Low income household share</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2"/>
          <p:cNvSpPr txBox="1"/>
          <p:nvPr>
            <p:ph type="title"/>
          </p:nvPr>
        </p:nvSpPr>
        <p:spPr>
          <a:xfrm>
            <a:off x="311700" y="2462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3. Data</a:t>
            </a:r>
            <a:endParaRPr b="1"/>
          </a:p>
        </p:txBody>
      </p:sp>
      <p:cxnSp>
        <p:nvCxnSpPr>
          <p:cNvPr id="176" name="Google Shape;176;p22"/>
          <p:cNvCxnSpPr/>
          <p:nvPr/>
        </p:nvCxnSpPr>
        <p:spPr>
          <a:xfrm flipH="1" rot="10800000">
            <a:off x="311700" y="808150"/>
            <a:ext cx="8307900" cy="10800"/>
          </a:xfrm>
          <a:prstGeom prst="straightConnector1">
            <a:avLst/>
          </a:prstGeom>
          <a:noFill/>
          <a:ln cap="flat" cmpd="sng" w="9525">
            <a:solidFill>
              <a:schemeClr val="dk2"/>
            </a:solidFill>
            <a:prstDash val="solid"/>
            <a:round/>
            <a:headEnd len="med" w="med" type="none"/>
            <a:tailEnd len="med" w="med" type="none"/>
          </a:ln>
        </p:spPr>
      </p:cxnSp>
      <p:sp>
        <p:nvSpPr>
          <p:cNvPr id="177" name="Google Shape;177;p22"/>
          <p:cNvSpPr txBox="1"/>
          <p:nvPr/>
        </p:nvSpPr>
        <p:spPr>
          <a:xfrm>
            <a:off x="471150" y="878425"/>
            <a:ext cx="8201700" cy="47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t/>
            </a:r>
            <a:endParaRPr sz="1900">
              <a:solidFill>
                <a:schemeClr val="dk2"/>
              </a:solidFill>
            </a:endParaRPr>
          </a:p>
        </p:txBody>
      </p:sp>
      <p:pic>
        <p:nvPicPr>
          <p:cNvPr id="178" name="Google Shape;178;p22"/>
          <p:cNvPicPr preferRelativeResize="0"/>
          <p:nvPr/>
        </p:nvPicPr>
        <p:blipFill>
          <a:blip r:embed="rId3">
            <a:alphaModFix/>
          </a:blip>
          <a:stretch>
            <a:fillRect/>
          </a:stretch>
        </p:blipFill>
        <p:spPr>
          <a:xfrm>
            <a:off x="7110375" y="247300"/>
            <a:ext cx="1840351" cy="393600"/>
          </a:xfrm>
          <a:prstGeom prst="rect">
            <a:avLst/>
          </a:prstGeom>
          <a:noFill/>
          <a:ln>
            <a:noFill/>
          </a:ln>
        </p:spPr>
      </p:pic>
      <p:sp>
        <p:nvSpPr>
          <p:cNvPr id="179" name="Google Shape;179;p22"/>
          <p:cNvSpPr txBox="1"/>
          <p:nvPr/>
        </p:nvSpPr>
        <p:spPr>
          <a:xfrm>
            <a:off x="4572000" y="878425"/>
            <a:ext cx="4260300" cy="4002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180" name="Google Shape;180;p22"/>
          <p:cNvSpPr txBox="1"/>
          <p:nvPr/>
        </p:nvSpPr>
        <p:spPr>
          <a:xfrm>
            <a:off x="342900" y="982975"/>
            <a:ext cx="5435700" cy="370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pic>
        <p:nvPicPr>
          <p:cNvPr id="181" name="Google Shape;181;p22"/>
          <p:cNvPicPr preferRelativeResize="0"/>
          <p:nvPr/>
        </p:nvPicPr>
        <p:blipFill>
          <a:blip r:embed="rId4">
            <a:alphaModFix/>
          </a:blip>
          <a:stretch>
            <a:fillRect/>
          </a:stretch>
        </p:blipFill>
        <p:spPr>
          <a:xfrm>
            <a:off x="1368762" y="1168112"/>
            <a:ext cx="6406474" cy="333803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3"/>
          <p:cNvSpPr txBox="1"/>
          <p:nvPr>
            <p:ph type="title"/>
          </p:nvPr>
        </p:nvSpPr>
        <p:spPr>
          <a:xfrm>
            <a:off x="311700" y="2445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4. </a:t>
            </a:r>
            <a:r>
              <a:rPr b="1" lang="en"/>
              <a:t>Methods</a:t>
            </a:r>
            <a:endParaRPr b="1"/>
          </a:p>
        </p:txBody>
      </p:sp>
      <p:sp>
        <p:nvSpPr>
          <p:cNvPr id="187" name="Google Shape;187;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 this project, we </a:t>
            </a:r>
            <a:r>
              <a:rPr lang="en"/>
              <a:t>validate</a:t>
            </a:r>
            <a:r>
              <a:rPr lang="en"/>
              <a:t> the results of this </a:t>
            </a:r>
            <a:r>
              <a:rPr lang="en"/>
              <a:t>study through two avenues:</a:t>
            </a:r>
            <a:endParaRPr/>
          </a:p>
          <a:p>
            <a:pPr indent="-342900" lvl="0" marL="457200" rtl="0" algn="l">
              <a:spcBef>
                <a:spcPts val="1200"/>
              </a:spcBef>
              <a:spcAft>
                <a:spcPts val="0"/>
              </a:spcAft>
              <a:buSzPts val="1800"/>
              <a:buChar char="●"/>
            </a:pPr>
            <a:r>
              <a:rPr lang="en"/>
              <a:t>Placebo Tests </a:t>
            </a:r>
            <a:endParaRPr/>
          </a:p>
          <a:p>
            <a:pPr indent="-317500" lvl="1" marL="914400" rtl="0" algn="l">
              <a:spcBef>
                <a:spcPts val="0"/>
              </a:spcBef>
              <a:spcAft>
                <a:spcPts val="0"/>
              </a:spcAft>
              <a:buSzPts val="1400"/>
              <a:buChar char="○"/>
            </a:pPr>
            <a:r>
              <a:rPr lang="en"/>
              <a:t>Parameter of interest is </a:t>
            </a:r>
            <a:r>
              <a:rPr b="1" lang="en" sz="1200">
                <a:solidFill>
                  <a:srgbClr val="202122"/>
                </a:solidFill>
                <a:highlight>
                  <a:srgbClr val="FFFFFF"/>
                </a:highlight>
              </a:rPr>
              <a:t>𝛿</a:t>
            </a:r>
            <a:r>
              <a:rPr b="1" baseline="-25000" lang="en" sz="1200">
                <a:solidFill>
                  <a:srgbClr val="202122"/>
                </a:solidFill>
                <a:highlight>
                  <a:srgbClr val="FFFFFF"/>
                </a:highlight>
              </a:rPr>
              <a:t>3</a:t>
            </a:r>
            <a:endParaRPr baseline="-25000"/>
          </a:p>
          <a:p>
            <a:pPr indent="-317500" lvl="1" marL="914400" rtl="0" algn="l">
              <a:spcBef>
                <a:spcPts val="0"/>
              </a:spcBef>
              <a:spcAft>
                <a:spcPts val="0"/>
              </a:spcAft>
              <a:buSzPts val="1400"/>
              <a:buChar char="○"/>
            </a:pPr>
            <a:r>
              <a:rPr lang="en"/>
              <a:t>Algorithm based off of Causality II lecture </a:t>
            </a:r>
            <a:endParaRPr/>
          </a:p>
          <a:p>
            <a:pPr indent="-317500" lvl="1" marL="914400" rtl="0" algn="l">
              <a:spcBef>
                <a:spcPts val="0"/>
              </a:spcBef>
              <a:spcAft>
                <a:spcPts val="0"/>
              </a:spcAft>
              <a:buSzPts val="1400"/>
              <a:buChar char="○"/>
            </a:pPr>
            <a:r>
              <a:rPr lang="en"/>
              <a:t>Cutoffs are randomized</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Lasso Regression</a:t>
            </a:r>
            <a:endParaRPr/>
          </a:p>
          <a:p>
            <a:pPr indent="-317500" lvl="1" marL="914400" rtl="0" algn="l">
              <a:spcBef>
                <a:spcPts val="0"/>
              </a:spcBef>
              <a:spcAft>
                <a:spcPts val="0"/>
              </a:spcAft>
              <a:buSzPts val="1400"/>
              <a:buChar char="○"/>
            </a:pPr>
            <a:r>
              <a:rPr lang="en"/>
              <a:t>Above model is high dimensional  (over 200 parameters)</a:t>
            </a:r>
            <a:endParaRPr/>
          </a:p>
          <a:p>
            <a:pPr indent="-317500" lvl="1" marL="914400" rtl="0" algn="l">
              <a:spcBef>
                <a:spcPts val="0"/>
              </a:spcBef>
              <a:spcAft>
                <a:spcPts val="0"/>
              </a:spcAft>
              <a:buSzPts val="1400"/>
              <a:buChar char="○"/>
            </a:pPr>
            <a:r>
              <a:rPr lang="en"/>
              <a:t>Testing what factors are good predictors of pollution </a:t>
            </a:r>
            <a:endParaRPr/>
          </a:p>
        </p:txBody>
      </p:sp>
      <p:sp>
        <p:nvSpPr>
          <p:cNvPr id="188" name="Google Shape;188;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89" name="Google Shape;189;p23"/>
          <p:cNvPicPr preferRelativeResize="0"/>
          <p:nvPr/>
        </p:nvPicPr>
        <p:blipFill>
          <a:blip r:embed="rId3">
            <a:alphaModFix/>
          </a:blip>
          <a:stretch>
            <a:fillRect/>
          </a:stretch>
        </p:blipFill>
        <p:spPr>
          <a:xfrm>
            <a:off x="4251075" y="2673750"/>
            <a:ext cx="4770075" cy="654475"/>
          </a:xfrm>
          <a:prstGeom prst="rect">
            <a:avLst/>
          </a:prstGeom>
          <a:noFill/>
          <a:ln>
            <a:noFill/>
          </a:ln>
        </p:spPr>
      </p:pic>
      <p:cxnSp>
        <p:nvCxnSpPr>
          <p:cNvPr id="190" name="Google Shape;190;p23"/>
          <p:cNvCxnSpPr/>
          <p:nvPr/>
        </p:nvCxnSpPr>
        <p:spPr>
          <a:xfrm flipH="1" rot="10800000">
            <a:off x="311700" y="808150"/>
            <a:ext cx="8307900" cy="10800"/>
          </a:xfrm>
          <a:prstGeom prst="straightConnector1">
            <a:avLst/>
          </a:prstGeom>
          <a:noFill/>
          <a:ln cap="flat" cmpd="sng" w="9525">
            <a:solidFill>
              <a:schemeClr val="dk2"/>
            </a:solidFill>
            <a:prstDash val="solid"/>
            <a:round/>
            <a:headEnd len="med" w="med" type="none"/>
            <a:tailEnd len="med" w="med" type="none"/>
          </a:ln>
        </p:spPr>
      </p:cxnSp>
      <p:pic>
        <p:nvPicPr>
          <p:cNvPr id="191" name="Google Shape;191;p23"/>
          <p:cNvPicPr preferRelativeResize="0"/>
          <p:nvPr/>
        </p:nvPicPr>
        <p:blipFill>
          <a:blip r:embed="rId4">
            <a:alphaModFix/>
          </a:blip>
          <a:stretch>
            <a:fillRect/>
          </a:stretch>
        </p:blipFill>
        <p:spPr>
          <a:xfrm>
            <a:off x="7110375" y="247300"/>
            <a:ext cx="1840351" cy="393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4"/>
          <p:cNvSpPr txBox="1"/>
          <p:nvPr>
            <p:ph type="title"/>
          </p:nvPr>
        </p:nvSpPr>
        <p:spPr>
          <a:xfrm>
            <a:off x="311700" y="2319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5. Results (Placebo Tests)</a:t>
            </a:r>
            <a:endParaRPr b="1"/>
          </a:p>
        </p:txBody>
      </p:sp>
      <p:sp>
        <p:nvSpPr>
          <p:cNvPr id="197" name="Google Shape;197;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98" name="Google Shape;198;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99" name="Google Shape;199;p24"/>
          <p:cNvPicPr preferRelativeResize="0"/>
          <p:nvPr/>
        </p:nvPicPr>
        <p:blipFill>
          <a:blip r:embed="rId3">
            <a:alphaModFix/>
          </a:blip>
          <a:stretch>
            <a:fillRect/>
          </a:stretch>
        </p:blipFill>
        <p:spPr>
          <a:xfrm>
            <a:off x="1452675" y="1152475"/>
            <a:ext cx="6238652" cy="3416400"/>
          </a:xfrm>
          <a:prstGeom prst="rect">
            <a:avLst/>
          </a:prstGeom>
          <a:noFill/>
          <a:ln>
            <a:noFill/>
          </a:ln>
        </p:spPr>
      </p:pic>
      <p:pic>
        <p:nvPicPr>
          <p:cNvPr id="200" name="Google Shape;200;p24"/>
          <p:cNvPicPr preferRelativeResize="0"/>
          <p:nvPr/>
        </p:nvPicPr>
        <p:blipFill>
          <a:blip r:embed="rId3">
            <a:alphaModFix/>
          </a:blip>
          <a:stretch>
            <a:fillRect/>
          </a:stretch>
        </p:blipFill>
        <p:spPr>
          <a:xfrm>
            <a:off x="1329650" y="1017724"/>
            <a:ext cx="6484709" cy="3551150"/>
          </a:xfrm>
          <a:prstGeom prst="rect">
            <a:avLst/>
          </a:prstGeom>
          <a:noFill/>
          <a:ln>
            <a:noFill/>
          </a:ln>
        </p:spPr>
      </p:pic>
      <p:cxnSp>
        <p:nvCxnSpPr>
          <p:cNvPr id="201" name="Google Shape;201;p24"/>
          <p:cNvCxnSpPr/>
          <p:nvPr/>
        </p:nvCxnSpPr>
        <p:spPr>
          <a:xfrm flipH="1" rot="10800000">
            <a:off x="311700" y="808150"/>
            <a:ext cx="8307900" cy="10800"/>
          </a:xfrm>
          <a:prstGeom prst="straightConnector1">
            <a:avLst/>
          </a:prstGeom>
          <a:noFill/>
          <a:ln cap="flat" cmpd="sng" w="9525">
            <a:solidFill>
              <a:schemeClr val="dk2"/>
            </a:solidFill>
            <a:prstDash val="solid"/>
            <a:round/>
            <a:headEnd len="med" w="med" type="none"/>
            <a:tailEnd len="med" w="med" type="none"/>
          </a:ln>
        </p:spPr>
      </p:cxnSp>
      <p:pic>
        <p:nvPicPr>
          <p:cNvPr id="202" name="Google Shape;202;p24"/>
          <p:cNvPicPr preferRelativeResize="0"/>
          <p:nvPr/>
        </p:nvPicPr>
        <p:blipFill>
          <a:blip r:embed="rId4">
            <a:alphaModFix/>
          </a:blip>
          <a:stretch>
            <a:fillRect/>
          </a:stretch>
        </p:blipFill>
        <p:spPr>
          <a:xfrm>
            <a:off x="7110375" y="247300"/>
            <a:ext cx="1840351" cy="3936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5"/>
          <p:cNvSpPr txBox="1"/>
          <p:nvPr>
            <p:ph type="title"/>
          </p:nvPr>
        </p:nvSpPr>
        <p:spPr>
          <a:xfrm>
            <a:off x="311700" y="2069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5. </a:t>
            </a:r>
            <a:r>
              <a:rPr b="1" lang="en"/>
              <a:t>Results </a:t>
            </a:r>
            <a:r>
              <a:rPr b="1" lang="en"/>
              <a:t>(Placebo Tests)</a:t>
            </a:r>
            <a:endParaRPr b="1"/>
          </a:p>
        </p:txBody>
      </p:sp>
      <p:sp>
        <p:nvSpPr>
          <p:cNvPr id="208" name="Google Shape;208;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09" name="Google Shape;209;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10" name="Google Shape;210;p25"/>
          <p:cNvPicPr preferRelativeResize="0"/>
          <p:nvPr/>
        </p:nvPicPr>
        <p:blipFill>
          <a:blip r:embed="rId3">
            <a:alphaModFix/>
          </a:blip>
          <a:stretch>
            <a:fillRect/>
          </a:stretch>
        </p:blipFill>
        <p:spPr>
          <a:xfrm>
            <a:off x="1213038" y="1021250"/>
            <a:ext cx="6717924" cy="3678850"/>
          </a:xfrm>
          <a:prstGeom prst="rect">
            <a:avLst/>
          </a:prstGeom>
          <a:noFill/>
          <a:ln>
            <a:noFill/>
          </a:ln>
        </p:spPr>
      </p:pic>
      <p:cxnSp>
        <p:nvCxnSpPr>
          <p:cNvPr id="211" name="Google Shape;211;p25"/>
          <p:cNvCxnSpPr/>
          <p:nvPr/>
        </p:nvCxnSpPr>
        <p:spPr>
          <a:xfrm flipH="1" rot="10800000">
            <a:off x="311700" y="808150"/>
            <a:ext cx="8307900" cy="10800"/>
          </a:xfrm>
          <a:prstGeom prst="straightConnector1">
            <a:avLst/>
          </a:prstGeom>
          <a:noFill/>
          <a:ln cap="flat" cmpd="sng" w="9525">
            <a:solidFill>
              <a:schemeClr val="dk2"/>
            </a:solidFill>
            <a:prstDash val="solid"/>
            <a:round/>
            <a:headEnd len="med" w="med" type="none"/>
            <a:tailEnd len="med" w="med" type="none"/>
          </a:ln>
        </p:spPr>
      </p:cxnSp>
      <p:pic>
        <p:nvPicPr>
          <p:cNvPr id="212" name="Google Shape;212;p25"/>
          <p:cNvPicPr preferRelativeResize="0"/>
          <p:nvPr/>
        </p:nvPicPr>
        <p:blipFill>
          <a:blip r:embed="rId4">
            <a:alphaModFix/>
          </a:blip>
          <a:stretch>
            <a:fillRect/>
          </a:stretch>
        </p:blipFill>
        <p:spPr>
          <a:xfrm>
            <a:off x="7110375" y="247300"/>
            <a:ext cx="1840351" cy="3936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6"/>
          <p:cNvSpPr txBox="1"/>
          <p:nvPr>
            <p:ph type="title"/>
          </p:nvPr>
        </p:nvSpPr>
        <p:spPr>
          <a:xfrm>
            <a:off x="311700" y="2462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6.</a:t>
            </a:r>
            <a:r>
              <a:rPr b="1" lang="en"/>
              <a:t> </a:t>
            </a:r>
            <a:r>
              <a:rPr b="1" lang="en"/>
              <a:t>Results (Lasso)</a:t>
            </a:r>
            <a:endParaRPr b="1"/>
          </a:p>
        </p:txBody>
      </p:sp>
      <p:cxnSp>
        <p:nvCxnSpPr>
          <p:cNvPr id="218" name="Google Shape;218;p26"/>
          <p:cNvCxnSpPr/>
          <p:nvPr/>
        </p:nvCxnSpPr>
        <p:spPr>
          <a:xfrm flipH="1" rot="10800000">
            <a:off x="311700" y="808150"/>
            <a:ext cx="8307900" cy="10800"/>
          </a:xfrm>
          <a:prstGeom prst="straightConnector1">
            <a:avLst/>
          </a:prstGeom>
          <a:noFill/>
          <a:ln cap="flat" cmpd="sng" w="9525">
            <a:solidFill>
              <a:schemeClr val="dk2"/>
            </a:solidFill>
            <a:prstDash val="solid"/>
            <a:round/>
            <a:headEnd len="med" w="med" type="none"/>
            <a:tailEnd len="med" w="med" type="none"/>
          </a:ln>
        </p:spPr>
      </p:cxnSp>
      <p:sp>
        <p:nvSpPr>
          <p:cNvPr id="219" name="Google Shape;219;p26"/>
          <p:cNvSpPr txBox="1"/>
          <p:nvPr/>
        </p:nvSpPr>
        <p:spPr>
          <a:xfrm>
            <a:off x="471150" y="878425"/>
            <a:ext cx="8201700" cy="47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t/>
            </a:r>
            <a:endParaRPr sz="1900">
              <a:solidFill>
                <a:schemeClr val="dk2"/>
              </a:solidFill>
            </a:endParaRPr>
          </a:p>
        </p:txBody>
      </p:sp>
      <p:pic>
        <p:nvPicPr>
          <p:cNvPr id="220" name="Google Shape;220;p26"/>
          <p:cNvPicPr preferRelativeResize="0"/>
          <p:nvPr/>
        </p:nvPicPr>
        <p:blipFill>
          <a:blip r:embed="rId3">
            <a:alphaModFix/>
          </a:blip>
          <a:stretch>
            <a:fillRect/>
          </a:stretch>
        </p:blipFill>
        <p:spPr>
          <a:xfrm>
            <a:off x="7110375" y="247300"/>
            <a:ext cx="1840351" cy="393600"/>
          </a:xfrm>
          <a:prstGeom prst="rect">
            <a:avLst/>
          </a:prstGeom>
          <a:noFill/>
          <a:ln>
            <a:noFill/>
          </a:ln>
        </p:spPr>
      </p:pic>
      <p:sp>
        <p:nvSpPr>
          <p:cNvPr id="221" name="Google Shape;221;p26"/>
          <p:cNvSpPr txBox="1"/>
          <p:nvPr/>
        </p:nvSpPr>
        <p:spPr>
          <a:xfrm>
            <a:off x="4572000" y="878425"/>
            <a:ext cx="4260300" cy="4002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222" name="Google Shape;222;p26"/>
          <p:cNvSpPr txBox="1"/>
          <p:nvPr/>
        </p:nvSpPr>
        <p:spPr>
          <a:xfrm>
            <a:off x="342900" y="982975"/>
            <a:ext cx="5435700" cy="370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pic>
        <p:nvPicPr>
          <p:cNvPr id="223" name="Google Shape;223;p26"/>
          <p:cNvPicPr preferRelativeResize="0"/>
          <p:nvPr/>
        </p:nvPicPr>
        <p:blipFill>
          <a:blip r:embed="rId4">
            <a:alphaModFix/>
          </a:blip>
          <a:stretch>
            <a:fillRect/>
          </a:stretch>
        </p:blipFill>
        <p:spPr>
          <a:xfrm>
            <a:off x="863150" y="982975"/>
            <a:ext cx="3220525" cy="4205625"/>
          </a:xfrm>
          <a:prstGeom prst="rect">
            <a:avLst/>
          </a:prstGeom>
          <a:noFill/>
          <a:ln>
            <a:noFill/>
          </a:ln>
        </p:spPr>
      </p:pic>
      <p:pic>
        <p:nvPicPr>
          <p:cNvPr id="224" name="Google Shape;224;p26"/>
          <p:cNvPicPr preferRelativeResize="0"/>
          <p:nvPr/>
        </p:nvPicPr>
        <p:blipFill>
          <a:blip r:embed="rId5">
            <a:alphaModFix/>
          </a:blip>
          <a:stretch>
            <a:fillRect/>
          </a:stretch>
        </p:blipFill>
        <p:spPr>
          <a:xfrm>
            <a:off x="5091888" y="1080389"/>
            <a:ext cx="3220525" cy="4010788"/>
          </a:xfrm>
          <a:prstGeom prst="rect">
            <a:avLst/>
          </a:prstGeom>
          <a:noFill/>
          <a:ln>
            <a:noFill/>
          </a:ln>
        </p:spPr>
      </p:pic>
      <p:sp>
        <p:nvSpPr>
          <p:cNvPr id="225" name="Google Shape;225;p26"/>
          <p:cNvSpPr/>
          <p:nvPr/>
        </p:nvSpPr>
        <p:spPr>
          <a:xfrm>
            <a:off x="4820675" y="4090625"/>
            <a:ext cx="598800" cy="57000"/>
          </a:xfrm>
          <a:prstGeom prst="rightArrow">
            <a:avLst>
              <a:gd fmla="val 50000" name="adj1"/>
              <a:gd fmla="val 50000" name="adj2"/>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6" name="Google Shape;226;p26"/>
          <p:cNvSpPr/>
          <p:nvPr/>
        </p:nvSpPr>
        <p:spPr>
          <a:xfrm>
            <a:off x="311700" y="1539450"/>
            <a:ext cx="598800" cy="57000"/>
          </a:xfrm>
          <a:prstGeom prst="rightArrow">
            <a:avLst>
              <a:gd fmla="val 50000" name="adj1"/>
              <a:gd fmla="val 50000" name="adj2"/>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7" name="Google Shape;227;p26"/>
          <p:cNvSpPr/>
          <p:nvPr/>
        </p:nvSpPr>
        <p:spPr>
          <a:xfrm>
            <a:off x="311700" y="1663000"/>
            <a:ext cx="598800" cy="57000"/>
          </a:xfrm>
          <a:prstGeom prst="rightArrow">
            <a:avLst>
              <a:gd fmla="val 50000" name="adj1"/>
              <a:gd fmla="val 50000" name="adj2"/>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8" name="Google Shape;228;p26"/>
          <p:cNvSpPr/>
          <p:nvPr/>
        </p:nvSpPr>
        <p:spPr>
          <a:xfrm>
            <a:off x="311700" y="3133475"/>
            <a:ext cx="598800" cy="57000"/>
          </a:xfrm>
          <a:prstGeom prst="rightArrow">
            <a:avLst>
              <a:gd fmla="val 50000" name="adj1"/>
              <a:gd fmla="val 50000" name="adj2"/>
            </a:avLst>
          </a:prstGeom>
          <a:solidFill>
            <a:srgbClr val="98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7"/>
          <p:cNvSpPr txBox="1"/>
          <p:nvPr>
            <p:ph type="title"/>
          </p:nvPr>
        </p:nvSpPr>
        <p:spPr>
          <a:xfrm>
            <a:off x="311700" y="2462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b="1" lang="en"/>
              <a:t>6. Results (Lasso)</a:t>
            </a:r>
            <a:endParaRPr b="1"/>
          </a:p>
        </p:txBody>
      </p:sp>
      <p:cxnSp>
        <p:nvCxnSpPr>
          <p:cNvPr id="234" name="Google Shape;234;p27"/>
          <p:cNvCxnSpPr/>
          <p:nvPr/>
        </p:nvCxnSpPr>
        <p:spPr>
          <a:xfrm flipH="1" rot="10800000">
            <a:off x="311700" y="808150"/>
            <a:ext cx="8307900" cy="10800"/>
          </a:xfrm>
          <a:prstGeom prst="straightConnector1">
            <a:avLst/>
          </a:prstGeom>
          <a:noFill/>
          <a:ln cap="flat" cmpd="sng" w="9525">
            <a:solidFill>
              <a:schemeClr val="dk2"/>
            </a:solidFill>
            <a:prstDash val="solid"/>
            <a:round/>
            <a:headEnd len="med" w="med" type="none"/>
            <a:tailEnd len="med" w="med" type="none"/>
          </a:ln>
        </p:spPr>
      </p:cxnSp>
      <p:sp>
        <p:nvSpPr>
          <p:cNvPr id="235" name="Google Shape;235;p27"/>
          <p:cNvSpPr txBox="1"/>
          <p:nvPr/>
        </p:nvSpPr>
        <p:spPr>
          <a:xfrm>
            <a:off x="471150" y="878425"/>
            <a:ext cx="8201700" cy="47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t/>
            </a:r>
            <a:endParaRPr sz="1900">
              <a:solidFill>
                <a:schemeClr val="dk2"/>
              </a:solidFill>
            </a:endParaRPr>
          </a:p>
        </p:txBody>
      </p:sp>
      <p:pic>
        <p:nvPicPr>
          <p:cNvPr id="236" name="Google Shape;236;p27"/>
          <p:cNvPicPr preferRelativeResize="0"/>
          <p:nvPr/>
        </p:nvPicPr>
        <p:blipFill>
          <a:blip r:embed="rId3">
            <a:alphaModFix/>
          </a:blip>
          <a:stretch>
            <a:fillRect/>
          </a:stretch>
        </p:blipFill>
        <p:spPr>
          <a:xfrm>
            <a:off x="7110375" y="247300"/>
            <a:ext cx="1840351" cy="393600"/>
          </a:xfrm>
          <a:prstGeom prst="rect">
            <a:avLst/>
          </a:prstGeom>
          <a:noFill/>
          <a:ln>
            <a:noFill/>
          </a:ln>
        </p:spPr>
      </p:pic>
      <p:sp>
        <p:nvSpPr>
          <p:cNvPr id="237" name="Google Shape;237;p27"/>
          <p:cNvSpPr txBox="1"/>
          <p:nvPr/>
        </p:nvSpPr>
        <p:spPr>
          <a:xfrm>
            <a:off x="4572000" y="878425"/>
            <a:ext cx="4260300" cy="4002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238" name="Google Shape;238;p27"/>
          <p:cNvSpPr txBox="1"/>
          <p:nvPr/>
        </p:nvSpPr>
        <p:spPr>
          <a:xfrm>
            <a:off x="342900" y="982975"/>
            <a:ext cx="5435700" cy="370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pic>
        <p:nvPicPr>
          <p:cNvPr id="239" name="Google Shape;239;p27"/>
          <p:cNvPicPr preferRelativeResize="0"/>
          <p:nvPr/>
        </p:nvPicPr>
        <p:blipFill>
          <a:blip r:embed="rId4">
            <a:alphaModFix/>
          </a:blip>
          <a:stretch>
            <a:fillRect/>
          </a:stretch>
        </p:blipFill>
        <p:spPr>
          <a:xfrm>
            <a:off x="2544212" y="878425"/>
            <a:ext cx="3842876" cy="40530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8"/>
          <p:cNvSpPr txBox="1"/>
          <p:nvPr>
            <p:ph type="title"/>
          </p:nvPr>
        </p:nvSpPr>
        <p:spPr>
          <a:xfrm>
            <a:off x="311700" y="2462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6. Results (Summary)</a:t>
            </a:r>
            <a:endParaRPr b="1"/>
          </a:p>
        </p:txBody>
      </p:sp>
      <p:cxnSp>
        <p:nvCxnSpPr>
          <p:cNvPr id="245" name="Google Shape;245;p28"/>
          <p:cNvCxnSpPr/>
          <p:nvPr/>
        </p:nvCxnSpPr>
        <p:spPr>
          <a:xfrm flipH="1" rot="10800000">
            <a:off x="311700" y="808150"/>
            <a:ext cx="8307900" cy="10800"/>
          </a:xfrm>
          <a:prstGeom prst="straightConnector1">
            <a:avLst/>
          </a:prstGeom>
          <a:noFill/>
          <a:ln cap="flat" cmpd="sng" w="9525">
            <a:solidFill>
              <a:schemeClr val="dk2"/>
            </a:solidFill>
            <a:prstDash val="solid"/>
            <a:round/>
            <a:headEnd len="med" w="med" type="none"/>
            <a:tailEnd len="med" w="med" type="none"/>
          </a:ln>
        </p:spPr>
      </p:cxnSp>
      <p:sp>
        <p:nvSpPr>
          <p:cNvPr id="246" name="Google Shape;246;p28"/>
          <p:cNvSpPr txBox="1"/>
          <p:nvPr/>
        </p:nvSpPr>
        <p:spPr>
          <a:xfrm>
            <a:off x="471150" y="878425"/>
            <a:ext cx="8201700" cy="47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t/>
            </a:r>
            <a:endParaRPr sz="1900">
              <a:solidFill>
                <a:schemeClr val="dk2"/>
              </a:solidFill>
            </a:endParaRPr>
          </a:p>
        </p:txBody>
      </p:sp>
      <p:pic>
        <p:nvPicPr>
          <p:cNvPr id="247" name="Google Shape;247;p28"/>
          <p:cNvPicPr preferRelativeResize="0"/>
          <p:nvPr/>
        </p:nvPicPr>
        <p:blipFill>
          <a:blip r:embed="rId3">
            <a:alphaModFix/>
          </a:blip>
          <a:stretch>
            <a:fillRect/>
          </a:stretch>
        </p:blipFill>
        <p:spPr>
          <a:xfrm>
            <a:off x="7110375" y="247300"/>
            <a:ext cx="1840351" cy="393600"/>
          </a:xfrm>
          <a:prstGeom prst="rect">
            <a:avLst/>
          </a:prstGeom>
          <a:noFill/>
          <a:ln>
            <a:noFill/>
          </a:ln>
        </p:spPr>
      </p:pic>
      <p:sp>
        <p:nvSpPr>
          <p:cNvPr id="248" name="Google Shape;248;p28"/>
          <p:cNvSpPr txBox="1"/>
          <p:nvPr/>
        </p:nvSpPr>
        <p:spPr>
          <a:xfrm>
            <a:off x="4572000" y="878425"/>
            <a:ext cx="4260300" cy="4002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249" name="Google Shape;249;p28"/>
          <p:cNvSpPr txBox="1"/>
          <p:nvPr/>
        </p:nvSpPr>
        <p:spPr>
          <a:xfrm>
            <a:off x="342900" y="982975"/>
            <a:ext cx="8329800" cy="37083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t/>
            </a:r>
            <a:endParaRPr sz="1800">
              <a:solidFill>
                <a:schemeClr val="dk2"/>
              </a:solidFill>
            </a:endParaRPr>
          </a:p>
          <a:p>
            <a:pPr indent="-342900" lvl="0" marL="457200" rtl="0" algn="l">
              <a:lnSpc>
                <a:spcPct val="115000"/>
              </a:lnSpc>
              <a:spcBef>
                <a:spcPts val="1200"/>
              </a:spcBef>
              <a:spcAft>
                <a:spcPts val="0"/>
              </a:spcAft>
              <a:buClr>
                <a:schemeClr val="dk2"/>
              </a:buClr>
              <a:buSzPts val="1800"/>
              <a:buChar char="●"/>
            </a:pPr>
            <a:r>
              <a:rPr lang="en" sz="1800">
                <a:solidFill>
                  <a:schemeClr val="dk2"/>
                </a:solidFill>
              </a:rPr>
              <a:t>Placebo Tests show that there is no difference in the effect of the metro on pollution in high and low income areas.</a:t>
            </a:r>
            <a:endParaRPr sz="1800">
              <a:solidFill>
                <a:schemeClr val="dk2"/>
              </a:solidFill>
            </a:endParaRPr>
          </a:p>
          <a:p>
            <a:pPr indent="0" lvl="0" marL="0" rtl="0" algn="l">
              <a:lnSpc>
                <a:spcPct val="115000"/>
              </a:lnSpc>
              <a:spcBef>
                <a:spcPts val="1200"/>
              </a:spcBef>
              <a:spcAft>
                <a:spcPts val="0"/>
              </a:spcAft>
              <a:buNone/>
            </a:pPr>
            <a:r>
              <a:t/>
            </a:r>
            <a:endParaRPr sz="1800">
              <a:solidFill>
                <a:schemeClr val="dk2"/>
              </a:solidFill>
            </a:endParaRPr>
          </a:p>
          <a:p>
            <a:pPr indent="-342900" lvl="0" marL="457200" rtl="0" algn="l">
              <a:lnSpc>
                <a:spcPct val="115000"/>
              </a:lnSpc>
              <a:spcBef>
                <a:spcPts val="1200"/>
              </a:spcBef>
              <a:spcAft>
                <a:spcPts val="0"/>
              </a:spcAft>
              <a:buClr>
                <a:schemeClr val="dk2"/>
              </a:buClr>
              <a:buSzPts val="1800"/>
              <a:buChar char="●"/>
            </a:pPr>
            <a:r>
              <a:rPr lang="en" sz="1800">
                <a:solidFill>
                  <a:schemeClr val="dk2"/>
                </a:solidFill>
              </a:rPr>
              <a:t>The interaction between high poverty and the opening of the metro are good predictors of nitrous oxide but not carbon monoxide emissions. </a:t>
            </a:r>
            <a:endParaRPr sz="1800">
              <a:solidFill>
                <a:schemeClr val="dk2"/>
              </a:solidFill>
            </a:endParaRPr>
          </a:p>
          <a:p>
            <a:pPr indent="-317500" lvl="1" marL="914400" rtl="0" algn="l">
              <a:lnSpc>
                <a:spcPct val="115000"/>
              </a:lnSpc>
              <a:spcBef>
                <a:spcPts val="0"/>
              </a:spcBef>
              <a:spcAft>
                <a:spcPts val="0"/>
              </a:spcAft>
              <a:buClr>
                <a:schemeClr val="dk2"/>
              </a:buClr>
              <a:buSzPts val="1400"/>
              <a:buChar char="○"/>
            </a:pPr>
            <a:r>
              <a:rPr lang="en">
                <a:solidFill>
                  <a:schemeClr val="dk2"/>
                </a:solidFill>
              </a:rPr>
              <a:t>Challenges original conclusion </a:t>
            </a:r>
            <a:endParaRPr>
              <a:solidFill>
                <a:schemeClr val="dk2"/>
              </a:solidFill>
            </a:endParaRPr>
          </a:p>
          <a:p>
            <a:pPr indent="0" lvl="0" marL="0" rtl="0" algn="l">
              <a:lnSpc>
                <a:spcPct val="115000"/>
              </a:lnSpc>
              <a:spcBef>
                <a:spcPts val="1200"/>
              </a:spcBef>
              <a:spcAft>
                <a:spcPts val="0"/>
              </a:spcAft>
              <a:buNone/>
            </a:pPr>
            <a:r>
              <a:t/>
            </a:r>
            <a:endParaRPr sz="1800">
              <a:solidFill>
                <a:schemeClr val="dk2"/>
              </a:solidFill>
            </a:endParaRPr>
          </a:p>
          <a:p>
            <a:pPr indent="0" lvl="0" marL="0" rtl="0" algn="l">
              <a:lnSpc>
                <a:spcPct val="115000"/>
              </a:lnSpc>
              <a:spcBef>
                <a:spcPts val="1200"/>
              </a:spcBef>
              <a:spcAft>
                <a:spcPts val="1200"/>
              </a:spcAft>
              <a:buNone/>
            </a:pPr>
            <a:r>
              <a:rPr lang="en" sz="1800">
                <a:solidFill>
                  <a:schemeClr val="dk2"/>
                </a:solidFill>
              </a:rPr>
              <a:t>	</a:t>
            </a:r>
            <a:endParaRPr sz="18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9"/>
          <p:cNvSpPr txBox="1"/>
          <p:nvPr>
            <p:ph type="title"/>
          </p:nvPr>
        </p:nvSpPr>
        <p:spPr>
          <a:xfrm>
            <a:off x="311700" y="2462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7. Issues &amp; Improvements</a:t>
            </a:r>
            <a:endParaRPr b="1"/>
          </a:p>
        </p:txBody>
      </p:sp>
      <p:cxnSp>
        <p:nvCxnSpPr>
          <p:cNvPr id="255" name="Google Shape;255;p29"/>
          <p:cNvCxnSpPr/>
          <p:nvPr/>
        </p:nvCxnSpPr>
        <p:spPr>
          <a:xfrm flipH="1" rot="10800000">
            <a:off x="311700" y="808150"/>
            <a:ext cx="8307900" cy="10800"/>
          </a:xfrm>
          <a:prstGeom prst="straightConnector1">
            <a:avLst/>
          </a:prstGeom>
          <a:noFill/>
          <a:ln cap="flat" cmpd="sng" w="9525">
            <a:solidFill>
              <a:schemeClr val="dk2"/>
            </a:solidFill>
            <a:prstDash val="solid"/>
            <a:round/>
            <a:headEnd len="med" w="med" type="none"/>
            <a:tailEnd len="med" w="med" type="none"/>
          </a:ln>
        </p:spPr>
      </p:cxnSp>
      <p:sp>
        <p:nvSpPr>
          <p:cNvPr id="256" name="Google Shape;256;p29"/>
          <p:cNvSpPr txBox="1"/>
          <p:nvPr/>
        </p:nvSpPr>
        <p:spPr>
          <a:xfrm>
            <a:off x="471150" y="878425"/>
            <a:ext cx="8201700" cy="47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t/>
            </a:r>
            <a:endParaRPr sz="1900">
              <a:solidFill>
                <a:schemeClr val="dk2"/>
              </a:solidFill>
            </a:endParaRPr>
          </a:p>
        </p:txBody>
      </p:sp>
      <p:pic>
        <p:nvPicPr>
          <p:cNvPr id="257" name="Google Shape;257;p29"/>
          <p:cNvPicPr preferRelativeResize="0"/>
          <p:nvPr/>
        </p:nvPicPr>
        <p:blipFill>
          <a:blip r:embed="rId3">
            <a:alphaModFix/>
          </a:blip>
          <a:stretch>
            <a:fillRect/>
          </a:stretch>
        </p:blipFill>
        <p:spPr>
          <a:xfrm>
            <a:off x="7110375" y="247300"/>
            <a:ext cx="1840351" cy="393600"/>
          </a:xfrm>
          <a:prstGeom prst="rect">
            <a:avLst/>
          </a:prstGeom>
          <a:noFill/>
          <a:ln>
            <a:noFill/>
          </a:ln>
        </p:spPr>
      </p:pic>
      <p:sp>
        <p:nvSpPr>
          <p:cNvPr id="258" name="Google Shape;258;p29"/>
          <p:cNvSpPr txBox="1"/>
          <p:nvPr/>
        </p:nvSpPr>
        <p:spPr>
          <a:xfrm>
            <a:off x="4572000" y="878425"/>
            <a:ext cx="4260300" cy="4002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259" name="Google Shape;259;p29"/>
          <p:cNvSpPr txBox="1"/>
          <p:nvPr/>
        </p:nvSpPr>
        <p:spPr>
          <a:xfrm>
            <a:off x="342900" y="982975"/>
            <a:ext cx="8307900" cy="370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graphicFrame>
        <p:nvGraphicFramePr>
          <p:cNvPr id="260" name="Google Shape;260;p29"/>
          <p:cNvGraphicFramePr/>
          <p:nvPr/>
        </p:nvGraphicFramePr>
        <p:xfrm>
          <a:off x="952500" y="1428750"/>
          <a:ext cx="3000000" cy="3000000"/>
        </p:xfrm>
        <a:graphic>
          <a:graphicData uri="http://schemas.openxmlformats.org/drawingml/2006/table">
            <a:tbl>
              <a:tblPr>
                <a:noFill/>
                <a:tableStyleId>{6D8A5EF0-F0EF-4A25-B9BD-B20571C9AC95}</a:tableStyleId>
              </a:tblPr>
              <a:tblGrid>
                <a:gridCol w="3619500"/>
                <a:gridCol w="3619500"/>
              </a:tblGrid>
              <a:tr h="381000">
                <a:tc>
                  <a:txBody>
                    <a:bodyPr/>
                    <a:lstStyle/>
                    <a:p>
                      <a:pPr indent="0" lvl="0" marL="0" rtl="0" algn="ctr">
                        <a:spcBef>
                          <a:spcPts val="0"/>
                        </a:spcBef>
                        <a:spcAft>
                          <a:spcPts val="0"/>
                        </a:spcAft>
                        <a:buNone/>
                      </a:pPr>
                      <a:r>
                        <a:rPr lang="en" sz="1700"/>
                        <a:t>Issues</a:t>
                      </a:r>
                      <a:endParaRPr sz="1700"/>
                    </a:p>
                  </a:txBody>
                  <a:tcPr marT="91425" marB="91425" marR="91425" marL="91425"/>
                </a:tc>
                <a:tc>
                  <a:txBody>
                    <a:bodyPr/>
                    <a:lstStyle/>
                    <a:p>
                      <a:pPr indent="0" lvl="0" marL="0" rtl="0" algn="ctr">
                        <a:spcBef>
                          <a:spcPts val="0"/>
                        </a:spcBef>
                        <a:spcAft>
                          <a:spcPts val="0"/>
                        </a:spcAft>
                        <a:buNone/>
                      </a:pPr>
                      <a:r>
                        <a:rPr lang="en" sz="1700"/>
                        <a:t>Improvements</a:t>
                      </a:r>
                      <a:endParaRPr sz="1700"/>
                    </a:p>
                  </a:txBody>
                  <a:tcPr marT="91425" marB="91425" marR="91425" marL="91425"/>
                </a:tc>
              </a:tr>
              <a:tr h="381000">
                <a:tc>
                  <a:txBody>
                    <a:bodyPr/>
                    <a:lstStyle/>
                    <a:p>
                      <a:pPr indent="0" lvl="0" marL="0" rtl="0" algn="l">
                        <a:spcBef>
                          <a:spcPts val="0"/>
                        </a:spcBef>
                        <a:spcAft>
                          <a:spcPts val="0"/>
                        </a:spcAft>
                        <a:buNone/>
                      </a:pPr>
                      <a:r>
                        <a:rPr lang="en" sz="1200">
                          <a:solidFill>
                            <a:srgbClr val="202124"/>
                          </a:solidFill>
                          <a:highlight>
                            <a:srgbClr val="FFFFFF"/>
                          </a:highlight>
                        </a:rPr>
                        <a:t>Couldn't use CV due to RD approach</a:t>
                      </a:r>
                      <a:endParaRPr/>
                    </a:p>
                  </a:txBody>
                  <a:tcPr marT="91425" marB="91425" marR="91425" marL="91425"/>
                </a:tc>
                <a:tc>
                  <a:txBody>
                    <a:bodyPr/>
                    <a:lstStyle/>
                    <a:p>
                      <a:pPr indent="0" lvl="0" marL="0" rtl="0" algn="l">
                        <a:spcBef>
                          <a:spcPts val="0"/>
                        </a:spcBef>
                        <a:spcAft>
                          <a:spcPts val="0"/>
                        </a:spcAft>
                        <a:buNone/>
                      </a:pPr>
                      <a:r>
                        <a:rPr lang="en" sz="1200">
                          <a:solidFill>
                            <a:srgbClr val="202124"/>
                          </a:solidFill>
                          <a:highlight>
                            <a:srgbClr val="FFFFFF"/>
                          </a:highlight>
                        </a:rPr>
                        <a:t>Lambda selection using CV with different model</a:t>
                      </a:r>
                      <a:endParaRPr/>
                    </a:p>
                  </a:txBody>
                  <a:tcPr marT="91425" marB="91425" marR="91425" marL="91425"/>
                </a:tc>
              </a:tr>
              <a:tr h="381000">
                <a:tc>
                  <a:txBody>
                    <a:bodyPr/>
                    <a:lstStyle/>
                    <a:p>
                      <a:pPr indent="0" lvl="0" marL="0" rtl="0" algn="l">
                        <a:spcBef>
                          <a:spcPts val="0"/>
                        </a:spcBef>
                        <a:spcAft>
                          <a:spcPts val="0"/>
                        </a:spcAft>
                        <a:buNone/>
                      </a:pPr>
                      <a:r>
                        <a:rPr b="1" lang="en" sz="1200">
                          <a:solidFill>
                            <a:srgbClr val="202124"/>
                          </a:solidFill>
                          <a:highlight>
                            <a:srgbClr val="FFFFFF"/>
                          </a:highlight>
                        </a:rPr>
                        <a:t>Window</a:t>
                      </a:r>
                      <a:r>
                        <a:rPr b="1" lang="en" sz="1200">
                          <a:solidFill>
                            <a:srgbClr val="202124"/>
                          </a:solidFill>
                          <a:highlight>
                            <a:srgbClr val="FFFFFF"/>
                          </a:highlight>
                        </a:rPr>
                        <a:t> choice was not data driven</a:t>
                      </a:r>
                      <a:endParaRPr b="1"/>
                    </a:p>
                  </a:txBody>
                  <a:tcPr marT="91425" marB="91425" marR="91425" marL="91425"/>
                </a:tc>
                <a:tc>
                  <a:txBody>
                    <a:bodyPr/>
                    <a:lstStyle/>
                    <a:p>
                      <a:pPr indent="0" lvl="0" marL="0" rtl="0" algn="l">
                        <a:spcBef>
                          <a:spcPts val="0"/>
                        </a:spcBef>
                        <a:spcAft>
                          <a:spcPts val="0"/>
                        </a:spcAft>
                        <a:buNone/>
                      </a:pPr>
                      <a:r>
                        <a:rPr b="1" lang="en" sz="1200">
                          <a:solidFill>
                            <a:srgbClr val="202124"/>
                          </a:solidFill>
                          <a:highlight>
                            <a:srgbClr val="FFFFFF"/>
                          </a:highlight>
                        </a:rPr>
                        <a:t>ROT, sensitivity analysis etc</a:t>
                      </a:r>
                      <a:endParaRPr b="1"/>
                    </a:p>
                  </a:txBody>
                  <a:tcPr marT="91425" marB="91425" marR="91425" marL="91425"/>
                </a:tc>
              </a:tr>
              <a:tr h="381000">
                <a:tc>
                  <a:txBody>
                    <a:bodyPr/>
                    <a:lstStyle/>
                    <a:p>
                      <a:pPr indent="0" lvl="0" marL="0" rtl="0" algn="l">
                        <a:spcBef>
                          <a:spcPts val="0"/>
                        </a:spcBef>
                        <a:spcAft>
                          <a:spcPts val="0"/>
                        </a:spcAft>
                        <a:buNone/>
                      </a:pPr>
                      <a:r>
                        <a:rPr lang="en" sz="1200">
                          <a:solidFill>
                            <a:srgbClr val="202124"/>
                          </a:solidFill>
                          <a:highlight>
                            <a:srgbClr val="FFFFFF"/>
                          </a:highlight>
                        </a:rPr>
                        <a:t>Controlled for opening and not activity of metro</a:t>
                      </a:r>
                      <a:endParaRPr/>
                    </a:p>
                  </a:txBody>
                  <a:tcPr marT="91425" marB="91425" marR="91425" marL="91425"/>
                </a:tc>
                <a:tc>
                  <a:txBody>
                    <a:bodyPr/>
                    <a:lstStyle/>
                    <a:p>
                      <a:pPr indent="0" lvl="0" marL="0" rtl="0" algn="l">
                        <a:spcBef>
                          <a:spcPts val="0"/>
                        </a:spcBef>
                        <a:spcAft>
                          <a:spcPts val="0"/>
                        </a:spcAft>
                        <a:buNone/>
                      </a:pPr>
                      <a:r>
                        <a:rPr lang="en" sz="1200">
                          <a:solidFill>
                            <a:srgbClr val="202124"/>
                          </a:solidFill>
                          <a:highlight>
                            <a:srgbClr val="FFFFFF"/>
                          </a:highlight>
                        </a:rPr>
                        <a:t>Control for ridership instead of just opening </a:t>
                      </a:r>
                      <a:endParaRPr/>
                    </a:p>
                  </a:txBody>
                  <a:tcPr marT="91425" marB="91425" marR="91425" marL="91425"/>
                </a:tc>
              </a:tr>
              <a:tr h="381000">
                <a:tc>
                  <a:txBody>
                    <a:bodyPr/>
                    <a:lstStyle/>
                    <a:p>
                      <a:pPr indent="0" lvl="0" marL="0" rtl="0" algn="l">
                        <a:spcBef>
                          <a:spcPts val="0"/>
                        </a:spcBef>
                        <a:spcAft>
                          <a:spcPts val="0"/>
                        </a:spcAft>
                        <a:buNone/>
                      </a:pPr>
                      <a:r>
                        <a:rPr b="1" lang="en" sz="1200">
                          <a:solidFill>
                            <a:srgbClr val="202124"/>
                          </a:solidFill>
                          <a:highlight>
                            <a:srgbClr val="FFFFFF"/>
                          </a:highlight>
                        </a:rPr>
                        <a:t>Data for sorting households was gotten from dates outside of sample dates</a:t>
                      </a:r>
                      <a:endParaRPr b="1"/>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sz="1200"/>
                        <a:t>Obtain demographic data closer to sample</a:t>
                      </a:r>
                      <a:endParaRPr b="1" sz="1200"/>
                    </a:p>
                  </a:txBody>
                  <a:tcPr marT="91425" marB="91425" marR="91425" marL="91425"/>
                </a:tc>
              </a:tr>
              <a:tr h="381000">
                <a:tc>
                  <a:txBody>
                    <a:bodyPr/>
                    <a:lstStyle/>
                    <a:p>
                      <a:pPr indent="0" lvl="0" marL="0" rtl="0" algn="l">
                        <a:spcBef>
                          <a:spcPts val="0"/>
                        </a:spcBef>
                        <a:spcAft>
                          <a:spcPts val="0"/>
                        </a:spcAft>
                        <a:buNone/>
                      </a:pPr>
                      <a:r>
                        <a:rPr lang="en" sz="1200"/>
                        <a:t>Heterogeneity may be different functional form</a:t>
                      </a:r>
                      <a:endParaRPr sz="12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sz="1200"/>
                        <a:t>Divide areas into more than two groups</a:t>
                      </a:r>
                      <a:endParaRPr sz="1200"/>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
                          <a:solidFill>
                            <a:schemeClr val="dk1"/>
                          </a:solidFill>
                        </a:rPr>
                        <a:t>-</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b="1" lang="en" sz="1200">
                          <a:solidFill>
                            <a:srgbClr val="202124"/>
                          </a:solidFill>
                          <a:highlight>
                            <a:srgbClr val="FFFFFF"/>
                          </a:highlight>
                        </a:rPr>
                        <a:t>Using AICc instead of AIC to select clustering level </a:t>
                      </a:r>
                      <a:endParaRPr b="1" sz="1200">
                        <a:solidFill>
                          <a:srgbClr val="202124"/>
                        </a:solidFill>
                        <a:highlight>
                          <a:srgbClr val="FFFFFF"/>
                        </a:highlight>
                      </a:endParaRPr>
                    </a:p>
                  </a:txBody>
                  <a:tcPr marT="91425" marB="91425" marR="91425" marL="91425"/>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0"/>
          <p:cNvSpPr txBox="1"/>
          <p:nvPr>
            <p:ph type="title"/>
          </p:nvPr>
        </p:nvSpPr>
        <p:spPr>
          <a:xfrm>
            <a:off x="311700" y="2462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Thank you </a:t>
            </a:r>
            <a:endParaRPr b="1"/>
          </a:p>
        </p:txBody>
      </p:sp>
      <p:cxnSp>
        <p:nvCxnSpPr>
          <p:cNvPr id="266" name="Google Shape;266;p30"/>
          <p:cNvCxnSpPr/>
          <p:nvPr/>
        </p:nvCxnSpPr>
        <p:spPr>
          <a:xfrm flipH="1" rot="10800000">
            <a:off x="311700" y="808150"/>
            <a:ext cx="8307900" cy="10800"/>
          </a:xfrm>
          <a:prstGeom prst="straightConnector1">
            <a:avLst/>
          </a:prstGeom>
          <a:noFill/>
          <a:ln cap="flat" cmpd="sng" w="9525">
            <a:solidFill>
              <a:schemeClr val="dk2"/>
            </a:solidFill>
            <a:prstDash val="solid"/>
            <a:round/>
            <a:headEnd len="med" w="med" type="none"/>
            <a:tailEnd len="med" w="med" type="none"/>
          </a:ln>
        </p:spPr>
      </p:cxnSp>
      <p:sp>
        <p:nvSpPr>
          <p:cNvPr id="267" name="Google Shape;267;p30"/>
          <p:cNvSpPr txBox="1"/>
          <p:nvPr/>
        </p:nvSpPr>
        <p:spPr>
          <a:xfrm>
            <a:off x="471150" y="878425"/>
            <a:ext cx="8201700" cy="47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t/>
            </a:r>
            <a:endParaRPr sz="1900">
              <a:solidFill>
                <a:schemeClr val="dk2"/>
              </a:solidFill>
            </a:endParaRPr>
          </a:p>
        </p:txBody>
      </p:sp>
      <p:pic>
        <p:nvPicPr>
          <p:cNvPr id="268" name="Google Shape;268;p30"/>
          <p:cNvPicPr preferRelativeResize="0"/>
          <p:nvPr/>
        </p:nvPicPr>
        <p:blipFill>
          <a:blip r:embed="rId3">
            <a:alphaModFix/>
          </a:blip>
          <a:stretch>
            <a:fillRect/>
          </a:stretch>
        </p:blipFill>
        <p:spPr>
          <a:xfrm>
            <a:off x="7110375" y="247300"/>
            <a:ext cx="1840351" cy="393600"/>
          </a:xfrm>
          <a:prstGeom prst="rect">
            <a:avLst/>
          </a:prstGeom>
          <a:noFill/>
          <a:ln>
            <a:noFill/>
          </a:ln>
        </p:spPr>
      </p:pic>
      <p:sp>
        <p:nvSpPr>
          <p:cNvPr id="269" name="Google Shape;269;p30"/>
          <p:cNvSpPr txBox="1"/>
          <p:nvPr/>
        </p:nvSpPr>
        <p:spPr>
          <a:xfrm>
            <a:off x="4572000" y="878425"/>
            <a:ext cx="4260300" cy="4002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270" name="Google Shape;270;p30"/>
          <p:cNvSpPr txBox="1"/>
          <p:nvPr/>
        </p:nvSpPr>
        <p:spPr>
          <a:xfrm>
            <a:off x="342900" y="982975"/>
            <a:ext cx="8307900" cy="370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2800">
                <a:solidFill>
                  <a:schemeClr val="dk1"/>
                </a:solidFill>
              </a:rPr>
              <a:t>Questions?</a:t>
            </a:r>
            <a:endParaRPr sz="18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